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6" r:id="rId7"/>
    <p:sldId id="261" r:id="rId8"/>
    <p:sldId id="262" r:id="rId9"/>
    <p:sldId id="263" r:id="rId10"/>
    <p:sldId id="264" r:id="rId11"/>
    <p:sldId id="265" r:id="rId12"/>
  </p:sldIdLst>
  <p:sldSz cx="9144000" cy="5143500" type="screen16x9"/>
  <p:notesSz cx="6858000" cy="9144000"/>
  <p:embeddedFontLst>
    <p:embeddedFont>
      <p:font typeface="Amatic SC" panose="00000500000000000000" pitchFamily="2" charset="-79"/>
      <p:regular r:id="rId14"/>
      <p:bold r:id="rId15"/>
    </p:embeddedFont>
    <p:embeddedFont>
      <p:font typeface="Source Code Pro" panose="020B0509030403020204" pitchFamily="49" charset="0"/>
      <p:regular r:id="rId16"/>
      <p:bold r:id="rId17"/>
      <p:italic r:id="rId18"/>
      <p:boldItalic r:id="rId19"/>
    </p:embeddedFont>
    <p:embeddedFont>
      <p:font typeface="Source Code Pro Black" panose="020B0809030403020204" pitchFamily="49" charset="0"/>
      <p:bold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C09D5BC-4821-4C6D-9D5D-6C50FE1D9566}">
  <a:tblStyle styleId="{9C09D5BC-4821-4C6D-9D5D-6C50FE1D956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38010524f8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38010524f8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38010524f8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38010524f8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38010524f8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38010524f8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38010524f8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38010524f8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38010524f8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38010524f8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384133a738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384133a738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38010524f8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38010524f8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38010524f8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38010524f8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38010524f8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38010524f8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311700" y="392150"/>
            <a:ext cx="8520600" cy="2690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endParaRPr/>
          </a:p>
        </p:txBody>
      </p:sp>
      <p:sp>
        <p:nvSpPr>
          <p:cNvPr id="12" name="Google Shape;12;p2"/>
          <p:cNvSpPr txBox="1">
            <a:spLocks noGrp="1"/>
          </p:cNvSpPr>
          <p:nvPr>
            <p:ph type="subTitle" idx="1"/>
          </p:nvPr>
        </p:nvSpPr>
        <p:spPr>
          <a:xfrm>
            <a:off x="311700" y="3890400"/>
            <a:ext cx="8520600" cy="706200"/>
          </a:xfrm>
          <a:prstGeom prst="rect">
            <a:avLst/>
          </a:prstGeom>
        </p:spPr>
        <p:txBody>
          <a:bodyPr spcFirstLastPara="1" wrap="square" lIns="91425" tIns="91425" rIns="91425" bIns="91425" anchor="ctr" anchorCtr="0">
            <a:normAutofit/>
          </a:bodyPr>
          <a:lstStyle>
            <a:lvl1pPr lvl="0" algn="ctr">
              <a:lnSpc>
                <a:spcPct val="100000"/>
              </a:lnSpc>
              <a:spcBef>
                <a:spcPts val="0"/>
              </a:spcBef>
              <a:spcAft>
                <a:spcPts val="0"/>
              </a:spcAft>
              <a:buClr>
                <a:schemeClr val="accent1"/>
              </a:buClr>
              <a:buSzPts val="2100"/>
              <a:buNone/>
              <a:defRPr sz="2100" b="1">
                <a:solidFill>
                  <a:schemeClr val="accent1"/>
                </a:solidFill>
              </a:defRPr>
            </a:lvl1pPr>
            <a:lvl2pPr lvl="1" algn="ctr">
              <a:lnSpc>
                <a:spcPct val="100000"/>
              </a:lnSpc>
              <a:spcBef>
                <a:spcPts val="0"/>
              </a:spcBef>
              <a:spcAft>
                <a:spcPts val="0"/>
              </a:spcAft>
              <a:buClr>
                <a:schemeClr val="accent1"/>
              </a:buClr>
              <a:buSzPts val="2100"/>
              <a:buNone/>
              <a:defRPr sz="2100" b="1">
                <a:solidFill>
                  <a:schemeClr val="accent1"/>
                </a:solidFill>
              </a:defRPr>
            </a:lvl2pPr>
            <a:lvl3pPr lvl="2" algn="ctr">
              <a:lnSpc>
                <a:spcPct val="100000"/>
              </a:lnSpc>
              <a:spcBef>
                <a:spcPts val="0"/>
              </a:spcBef>
              <a:spcAft>
                <a:spcPts val="0"/>
              </a:spcAft>
              <a:buClr>
                <a:schemeClr val="accent1"/>
              </a:buClr>
              <a:buSzPts val="2100"/>
              <a:buNone/>
              <a:defRPr sz="2100" b="1">
                <a:solidFill>
                  <a:schemeClr val="accent1"/>
                </a:solidFill>
              </a:defRPr>
            </a:lvl3pPr>
            <a:lvl4pPr lvl="3" algn="ctr">
              <a:lnSpc>
                <a:spcPct val="100000"/>
              </a:lnSpc>
              <a:spcBef>
                <a:spcPts val="0"/>
              </a:spcBef>
              <a:spcAft>
                <a:spcPts val="0"/>
              </a:spcAft>
              <a:buClr>
                <a:schemeClr val="accent1"/>
              </a:buClr>
              <a:buSzPts val="2100"/>
              <a:buNone/>
              <a:defRPr sz="2100" b="1">
                <a:solidFill>
                  <a:schemeClr val="accent1"/>
                </a:solidFill>
              </a:defRPr>
            </a:lvl4pPr>
            <a:lvl5pPr lvl="4" algn="ctr">
              <a:lnSpc>
                <a:spcPct val="100000"/>
              </a:lnSpc>
              <a:spcBef>
                <a:spcPts val="0"/>
              </a:spcBef>
              <a:spcAft>
                <a:spcPts val="0"/>
              </a:spcAft>
              <a:buClr>
                <a:schemeClr val="accent1"/>
              </a:buClr>
              <a:buSzPts val="2100"/>
              <a:buNone/>
              <a:defRPr sz="2100" b="1">
                <a:solidFill>
                  <a:schemeClr val="accent1"/>
                </a:solidFill>
              </a:defRPr>
            </a:lvl5pPr>
            <a:lvl6pPr lvl="5" algn="ctr">
              <a:lnSpc>
                <a:spcPct val="100000"/>
              </a:lnSpc>
              <a:spcBef>
                <a:spcPts val="0"/>
              </a:spcBef>
              <a:spcAft>
                <a:spcPts val="0"/>
              </a:spcAft>
              <a:buClr>
                <a:schemeClr val="accent1"/>
              </a:buClr>
              <a:buSzPts val="2100"/>
              <a:buNone/>
              <a:defRPr sz="2100" b="1">
                <a:solidFill>
                  <a:schemeClr val="accent1"/>
                </a:solidFill>
              </a:defRPr>
            </a:lvl6pPr>
            <a:lvl7pPr lvl="6" algn="ctr">
              <a:lnSpc>
                <a:spcPct val="100000"/>
              </a:lnSpc>
              <a:spcBef>
                <a:spcPts val="0"/>
              </a:spcBef>
              <a:spcAft>
                <a:spcPts val="0"/>
              </a:spcAft>
              <a:buClr>
                <a:schemeClr val="accent1"/>
              </a:buClr>
              <a:buSzPts val="2100"/>
              <a:buNone/>
              <a:defRPr sz="2100" b="1">
                <a:solidFill>
                  <a:schemeClr val="accent1"/>
                </a:solidFill>
              </a:defRPr>
            </a:lvl7pPr>
            <a:lvl8pPr lvl="7" algn="ctr">
              <a:lnSpc>
                <a:spcPct val="100000"/>
              </a:lnSpc>
              <a:spcBef>
                <a:spcPts val="0"/>
              </a:spcBef>
              <a:spcAft>
                <a:spcPts val="0"/>
              </a:spcAft>
              <a:buClr>
                <a:schemeClr val="accent1"/>
              </a:buClr>
              <a:buSzPts val="2100"/>
              <a:buNone/>
              <a:defRPr sz="2100" b="1">
                <a:solidFill>
                  <a:schemeClr val="accent1"/>
                </a:solidFill>
              </a:defRPr>
            </a:lvl8pPr>
            <a:lvl9pPr lvl="8" algn="ctr">
              <a:lnSpc>
                <a:spcPct val="100000"/>
              </a:lnSpc>
              <a:spcBef>
                <a:spcPts val="0"/>
              </a:spcBef>
              <a:spcAft>
                <a:spcPts val="0"/>
              </a:spcAft>
              <a:buClr>
                <a:schemeClr val="accent1"/>
              </a:buClr>
              <a:buSzPts val="2100"/>
              <a:buNone/>
              <a:defRPr sz="2100" b="1">
                <a:solidFill>
                  <a:schemeClr val="accent1"/>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2802750" y="802500"/>
            <a:ext cx="3538500" cy="3538500"/>
          </a:xfrm>
          <a:prstGeom prst="rect">
            <a:avLst/>
          </a:prstGeom>
          <a:solidFill>
            <a:srgbClr val="FFFFFF"/>
          </a:solidFill>
        </p:spPr>
        <p:txBody>
          <a:bodyPr spcFirstLastPara="1" wrap="square" lIns="91425" tIns="91425" rIns="91425" bIns="91425" anchor="ctr"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19" name="Google Shape;19;p4"/>
          <p:cNvSpPr txBox="1">
            <a:spLocks noGrp="1"/>
          </p:cNvSpPr>
          <p:nvPr>
            <p:ph type="body" idx="1"/>
          </p:nvPr>
        </p:nvSpPr>
        <p:spPr>
          <a:xfrm>
            <a:off x="311700" y="1228675"/>
            <a:ext cx="8520600" cy="3340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3" name="Google Shape;23;p5"/>
          <p:cNvSpPr txBox="1">
            <a:spLocks noGrp="1"/>
          </p:cNvSpPr>
          <p:nvPr>
            <p:ph type="body" idx="1"/>
          </p:nvPr>
        </p:nvSpPr>
        <p:spPr>
          <a:xfrm>
            <a:off x="311700" y="1228675"/>
            <a:ext cx="3999900" cy="3340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body" idx="2"/>
          </p:nvPr>
        </p:nvSpPr>
        <p:spPr>
          <a:xfrm>
            <a:off x="4832400" y="1228675"/>
            <a:ext cx="3999900" cy="3340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304800" y="309350"/>
            <a:ext cx="8537700" cy="748200"/>
          </a:xfrm>
          <a:prstGeom prst="rect">
            <a:avLst/>
          </a:prstGeom>
        </p:spPr>
        <p:txBody>
          <a:bodyPr spcFirstLastPara="1" wrap="square" lIns="91425" tIns="91425" rIns="91425" bIns="91425" anchor="t" anchorCtr="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28" name="Google Shape;28;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a:endParaRPr/>
          </a:p>
        </p:txBody>
      </p:sp>
      <p:sp>
        <p:nvSpPr>
          <p:cNvPr id="31" name="Google Shape;31;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a:endParaRPr/>
          </a:p>
        </p:txBody>
      </p:sp>
      <p:sp>
        <p:nvSpPr>
          <p:cNvPr id="35" name="Google Shape;35;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8" name="Google Shape;38;p9"/>
          <p:cNvCxnSpPr/>
          <p:nvPr/>
        </p:nvCxnSpPr>
        <p:spPr>
          <a:xfrm>
            <a:off x="5029675" y="4495500"/>
            <a:ext cx="468300" cy="0"/>
          </a:xfrm>
          <a:prstGeom prst="straightConnector1">
            <a:avLst/>
          </a:prstGeom>
          <a:noFill/>
          <a:ln w="28575" cap="flat" cmpd="sng">
            <a:solidFill>
              <a:schemeClr val="lt1"/>
            </a:solidFill>
            <a:prstDash val="solid"/>
            <a:round/>
            <a:headEnd type="none" w="sm" len="sm"/>
            <a:tailEnd type="none" w="sm" len="sm"/>
          </a:ln>
        </p:spPr>
      </p:cxnSp>
      <p:sp>
        <p:nvSpPr>
          <p:cNvPr id="39" name="Google Shape;39;p9"/>
          <p:cNvSpPr txBox="1">
            <a:spLocks noGrp="1"/>
          </p:cNvSpPr>
          <p:nvPr>
            <p:ph type="title"/>
          </p:nvPr>
        </p:nvSpPr>
        <p:spPr>
          <a:xfrm>
            <a:off x="265500" y="1081400"/>
            <a:ext cx="4045200" cy="17103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40" name="Google Shape;40;p9"/>
          <p:cNvSpPr txBox="1">
            <a:spLocks noGrp="1"/>
          </p:cNvSpPr>
          <p:nvPr>
            <p:ph type="subTitle" idx="1"/>
          </p:nvPr>
        </p:nvSpPr>
        <p:spPr>
          <a:xfrm>
            <a:off x="265500" y="2845223"/>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41" name="Google Shape;41;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accent1"/>
              </a:buClr>
              <a:buSzPts val="1800"/>
              <a:buChar char="●"/>
              <a:defRPr>
                <a:solidFill>
                  <a:schemeClr val="accent1"/>
                </a:solidFill>
                <a:highlight>
                  <a:schemeClr val="lt1"/>
                </a:highlight>
              </a:defRPr>
            </a:lvl1pPr>
            <a:lvl2pPr marL="914400" lvl="1" indent="-317500">
              <a:spcBef>
                <a:spcPts val="0"/>
              </a:spcBef>
              <a:spcAft>
                <a:spcPts val="0"/>
              </a:spcAft>
              <a:buClr>
                <a:schemeClr val="accent1"/>
              </a:buClr>
              <a:buSzPts val="1400"/>
              <a:buChar char="○"/>
              <a:defRPr>
                <a:solidFill>
                  <a:schemeClr val="accent1"/>
                </a:solidFill>
                <a:highlight>
                  <a:schemeClr val="lt1"/>
                </a:highlight>
              </a:defRPr>
            </a:lvl2pPr>
            <a:lvl3pPr marL="1371600" lvl="2" indent="-317500">
              <a:spcBef>
                <a:spcPts val="0"/>
              </a:spcBef>
              <a:spcAft>
                <a:spcPts val="0"/>
              </a:spcAft>
              <a:buClr>
                <a:schemeClr val="accent1"/>
              </a:buClr>
              <a:buSzPts val="1400"/>
              <a:buChar char="■"/>
              <a:defRPr>
                <a:solidFill>
                  <a:schemeClr val="accent1"/>
                </a:solidFill>
                <a:highlight>
                  <a:schemeClr val="lt1"/>
                </a:highlight>
              </a:defRPr>
            </a:lvl3pPr>
            <a:lvl4pPr marL="1828800" lvl="3" indent="-317500">
              <a:spcBef>
                <a:spcPts val="0"/>
              </a:spcBef>
              <a:spcAft>
                <a:spcPts val="0"/>
              </a:spcAft>
              <a:buClr>
                <a:schemeClr val="accent1"/>
              </a:buClr>
              <a:buSzPts val="1400"/>
              <a:buChar char="●"/>
              <a:defRPr>
                <a:solidFill>
                  <a:schemeClr val="accent1"/>
                </a:solidFill>
                <a:highlight>
                  <a:schemeClr val="lt1"/>
                </a:highlight>
              </a:defRPr>
            </a:lvl4pPr>
            <a:lvl5pPr marL="2286000" lvl="4" indent="-317500">
              <a:spcBef>
                <a:spcPts val="0"/>
              </a:spcBef>
              <a:spcAft>
                <a:spcPts val="0"/>
              </a:spcAft>
              <a:buClr>
                <a:schemeClr val="accent1"/>
              </a:buClr>
              <a:buSzPts val="1400"/>
              <a:buChar char="○"/>
              <a:defRPr>
                <a:solidFill>
                  <a:schemeClr val="accent1"/>
                </a:solidFill>
                <a:highlight>
                  <a:schemeClr val="lt1"/>
                </a:highlight>
              </a:defRPr>
            </a:lvl5pPr>
            <a:lvl6pPr marL="2743200" lvl="5" indent="-317500">
              <a:spcBef>
                <a:spcPts val="0"/>
              </a:spcBef>
              <a:spcAft>
                <a:spcPts val="0"/>
              </a:spcAft>
              <a:buClr>
                <a:schemeClr val="accent1"/>
              </a:buClr>
              <a:buSzPts val="1400"/>
              <a:buChar char="■"/>
              <a:defRPr>
                <a:solidFill>
                  <a:schemeClr val="accent1"/>
                </a:solidFill>
                <a:highlight>
                  <a:schemeClr val="lt1"/>
                </a:highlight>
              </a:defRPr>
            </a:lvl6pPr>
            <a:lvl7pPr marL="3200400" lvl="6" indent="-317500">
              <a:spcBef>
                <a:spcPts val="0"/>
              </a:spcBef>
              <a:spcAft>
                <a:spcPts val="0"/>
              </a:spcAft>
              <a:buClr>
                <a:schemeClr val="accent1"/>
              </a:buClr>
              <a:buSzPts val="1400"/>
              <a:buChar char="●"/>
              <a:defRPr>
                <a:solidFill>
                  <a:schemeClr val="accent1"/>
                </a:solidFill>
                <a:highlight>
                  <a:schemeClr val="lt1"/>
                </a:highlight>
              </a:defRPr>
            </a:lvl7pPr>
            <a:lvl8pPr marL="3657600" lvl="7" indent="-317500">
              <a:spcBef>
                <a:spcPts val="0"/>
              </a:spcBef>
              <a:spcAft>
                <a:spcPts val="0"/>
              </a:spcAft>
              <a:buClr>
                <a:schemeClr val="accent1"/>
              </a:buClr>
              <a:buSzPts val="1400"/>
              <a:buChar char="○"/>
              <a:defRPr>
                <a:solidFill>
                  <a:schemeClr val="accent1"/>
                </a:solidFill>
                <a:highlight>
                  <a:schemeClr val="lt1"/>
                </a:highlight>
              </a:defRPr>
            </a:lvl8pPr>
            <a:lvl9pPr marL="4114800" lvl="8" indent="-317500">
              <a:spcBef>
                <a:spcPts val="0"/>
              </a:spcBef>
              <a:spcAft>
                <a:spcPts val="0"/>
              </a:spcAft>
              <a:buClr>
                <a:schemeClr val="accent1"/>
              </a:buClr>
              <a:buSzPts val="1400"/>
              <a:buChar char="■"/>
              <a:defRPr>
                <a:solidFill>
                  <a:schemeClr val="accent1"/>
                </a:solidFill>
                <a:highlight>
                  <a:schemeClr val="lt1"/>
                </a:highlight>
              </a:defRPr>
            </a:lvl9pPr>
          </a:lstStyle>
          <a:p>
            <a:endParaRPr/>
          </a:p>
        </p:txBody>
      </p:sp>
      <p:sp>
        <p:nvSpPr>
          <p:cNvPr id="42" name="Google Shape;42;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accent1"/>
              </a:buClr>
              <a:buSzPts val="2400"/>
              <a:buFont typeface="Amatic SC"/>
              <a:buNone/>
              <a:defRPr sz="2400" b="1">
                <a:solidFill>
                  <a:schemeClr val="accent1"/>
                </a:solidFill>
                <a:latin typeface="Amatic SC"/>
                <a:ea typeface="Amatic SC"/>
                <a:cs typeface="Amatic SC"/>
                <a:sym typeface="Amatic SC"/>
              </a:defRPr>
            </a:lvl1pPr>
          </a:lstStyle>
          <a:p>
            <a:endParaRPr/>
          </a:p>
        </p:txBody>
      </p:sp>
      <p:sp>
        <p:nvSpPr>
          <p:cNvPr id="45" name="Google Shape;45;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1"/>
          <p:cNvSpPr txBox="1">
            <a:spLocks noGrp="1"/>
          </p:cNvSpPr>
          <p:nvPr>
            <p:ph type="title" hasCustomPrompt="1"/>
          </p:nvPr>
        </p:nvSpPr>
        <p:spPr>
          <a:xfrm>
            <a:off x="311700" y="1240275"/>
            <a:ext cx="8520600" cy="19818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a:spLocks noGrp="1"/>
          </p:cNvSpPr>
          <p:nvPr>
            <p:ph type="body" idx="1"/>
          </p:nvPr>
        </p:nvSpPr>
        <p:spPr>
          <a:xfrm>
            <a:off x="311700" y="33046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chemeClr val="accent1"/>
              </a:buClr>
              <a:buSzPts val="1800"/>
              <a:buChar char="●"/>
              <a:defRPr>
                <a:solidFill>
                  <a:schemeClr val="accent1"/>
                </a:solidFill>
                <a:highlight>
                  <a:schemeClr val="dk1"/>
                </a:highlight>
              </a:defRPr>
            </a:lvl1pPr>
            <a:lvl2pPr marL="914400" lvl="1" indent="-317500" algn="ctr">
              <a:spcBef>
                <a:spcPts val="0"/>
              </a:spcBef>
              <a:spcAft>
                <a:spcPts val="0"/>
              </a:spcAft>
              <a:buClr>
                <a:schemeClr val="accent1"/>
              </a:buClr>
              <a:buSzPts val="1400"/>
              <a:buChar char="○"/>
              <a:defRPr>
                <a:solidFill>
                  <a:schemeClr val="accent1"/>
                </a:solidFill>
                <a:highlight>
                  <a:schemeClr val="dk1"/>
                </a:highlight>
              </a:defRPr>
            </a:lvl2pPr>
            <a:lvl3pPr marL="1371600" lvl="2" indent="-317500" algn="ctr">
              <a:spcBef>
                <a:spcPts val="0"/>
              </a:spcBef>
              <a:spcAft>
                <a:spcPts val="0"/>
              </a:spcAft>
              <a:buClr>
                <a:schemeClr val="accent1"/>
              </a:buClr>
              <a:buSzPts val="1400"/>
              <a:buChar char="■"/>
              <a:defRPr>
                <a:solidFill>
                  <a:schemeClr val="accent1"/>
                </a:solidFill>
                <a:highlight>
                  <a:schemeClr val="dk1"/>
                </a:highlight>
              </a:defRPr>
            </a:lvl3pPr>
            <a:lvl4pPr marL="1828800" lvl="3" indent="-317500" algn="ctr">
              <a:spcBef>
                <a:spcPts val="0"/>
              </a:spcBef>
              <a:spcAft>
                <a:spcPts val="0"/>
              </a:spcAft>
              <a:buClr>
                <a:schemeClr val="accent1"/>
              </a:buClr>
              <a:buSzPts val="1400"/>
              <a:buChar char="●"/>
              <a:defRPr>
                <a:solidFill>
                  <a:schemeClr val="accent1"/>
                </a:solidFill>
                <a:highlight>
                  <a:schemeClr val="dk1"/>
                </a:highlight>
              </a:defRPr>
            </a:lvl4pPr>
            <a:lvl5pPr marL="2286000" lvl="4" indent="-317500" algn="ctr">
              <a:spcBef>
                <a:spcPts val="0"/>
              </a:spcBef>
              <a:spcAft>
                <a:spcPts val="0"/>
              </a:spcAft>
              <a:buClr>
                <a:schemeClr val="accent1"/>
              </a:buClr>
              <a:buSzPts val="1400"/>
              <a:buChar char="○"/>
              <a:defRPr>
                <a:solidFill>
                  <a:schemeClr val="accent1"/>
                </a:solidFill>
                <a:highlight>
                  <a:schemeClr val="dk1"/>
                </a:highlight>
              </a:defRPr>
            </a:lvl5pPr>
            <a:lvl6pPr marL="2743200" lvl="5" indent="-317500" algn="ctr">
              <a:spcBef>
                <a:spcPts val="0"/>
              </a:spcBef>
              <a:spcAft>
                <a:spcPts val="0"/>
              </a:spcAft>
              <a:buClr>
                <a:schemeClr val="accent1"/>
              </a:buClr>
              <a:buSzPts val="1400"/>
              <a:buChar char="■"/>
              <a:defRPr>
                <a:solidFill>
                  <a:schemeClr val="accent1"/>
                </a:solidFill>
                <a:highlight>
                  <a:schemeClr val="dk1"/>
                </a:highlight>
              </a:defRPr>
            </a:lvl6pPr>
            <a:lvl7pPr marL="3200400" lvl="6" indent="-317500" algn="ctr">
              <a:spcBef>
                <a:spcPts val="0"/>
              </a:spcBef>
              <a:spcAft>
                <a:spcPts val="0"/>
              </a:spcAft>
              <a:buClr>
                <a:schemeClr val="accent1"/>
              </a:buClr>
              <a:buSzPts val="1400"/>
              <a:buChar char="●"/>
              <a:defRPr>
                <a:solidFill>
                  <a:schemeClr val="accent1"/>
                </a:solidFill>
                <a:highlight>
                  <a:schemeClr val="dk1"/>
                </a:highlight>
              </a:defRPr>
            </a:lvl7pPr>
            <a:lvl8pPr marL="3657600" lvl="7" indent="-317500" algn="ctr">
              <a:spcBef>
                <a:spcPts val="0"/>
              </a:spcBef>
              <a:spcAft>
                <a:spcPts val="0"/>
              </a:spcAft>
              <a:buClr>
                <a:schemeClr val="accent1"/>
              </a:buClr>
              <a:buSzPts val="1400"/>
              <a:buChar char="○"/>
              <a:defRPr>
                <a:solidFill>
                  <a:schemeClr val="accent1"/>
                </a:solidFill>
                <a:highlight>
                  <a:schemeClr val="dk1"/>
                </a:highlight>
              </a:defRPr>
            </a:lvl8pPr>
            <a:lvl9pPr marL="4114800" lvl="8" indent="-317500" algn="ctr">
              <a:spcBef>
                <a:spcPts val="0"/>
              </a:spcBef>
              <a:spcAft>
                <a:spcPts val="0"/>
              </a:spcAft>
              <a:buClr>
                <a:schemeClr val="accent1"/>
              </a:buClr>
              <a:buSzPts val="1400"/>
              <a:buChar char="■"/>
              <a:defRPr>
                <a:solidFill>
                  <a:schemeClr val="accent1"/>
                </a:solidFill>
                <a:highlight>
                  <a:schemeClr val="dk1"/>
                </a:highlight>
              </a:defRPr>
            </a:lvl9pPr>
          </a:lstStyle>
          <a:p>
            <a:endParaRPr/>
          </a:p>
        </p:txBody>
      </p:sp>
      <p:sp>
        <p:nvSpPr>
          <p:cNvPr id="49" name="Google Shape;4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beach-day">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292850"/>
            <a:ext cx="8520600" cy="8010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sz="4200" b="1">
                <a:solidFill>
                  <a:schemeClr val="accent1"/>
                </a:solidFill>
                <a:latin typeface="Amatic SC"/>
                <a:ea typeface="Amatic SC"/>
                <a:cs typeface="Amatic SC"/>
                <a:sym typeface="Amatic SC"/>
              </a:defRPr>
            </a:lvl9pPr>
          </a:lstStyle>
          <a:p>
            <a:endParaRPr/>
          </a:p>
        </p:txBody>
      </p:sp>
      <p:sp>
        <p:nvSpPr>
          <p:cNvPr id="7" name="Google Shape;7;p1"/>
          <p:cNvSpPr txBox="1">
            <a:spLocks noGrp="1"/>
          </p:cNvSpPr>
          <p:nvPr>
            <p:ph type="body" idx="1"/>
          </p:nvPr>
        </p:nvSpPr>
        <p:spPr>
          <a:xfrm>
            <a:off x="311700" y="1228675"/>
            <a:ext cx="8520600" cy="3340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marL="914400" lvl="1"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marL="1371600" lvl="2"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marL="1828800" lvl="3"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marL="2286000" lvl="4"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marL="2743200" lvl="5"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marL="3200400" lvl="6"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marL="3657600" lvl="7"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marL="4114800" lvl="8"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it"/>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statsbomb/open-data"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3"/>
          <p:cNvSpPr txBox="1">
            <a:spLocks noGrp="1"/>
          </p:cNvSpPr>
          <p:nvPr>
            <p:ph type="ctrTitle"/>
          </p:nvPr>
        </p:nvSpPr>
        <p:spPr>
          <a:xfrm>
            <a:off x="827250" y="879900"/>
            <a:ext cx="7489500" cy="3383700"/>
          </a:xfrm>
          <a:prstGeom prst="rect">
            <a:avLst/>
          </a:prstGeom>
        </p:spPr>
        <p:txBody>
          <a:bodyPr spcFirstLastPara="1" wrap="square" lIns="91425" tIns="91425" rIns="91425" bIns="91425" anchor="ctr" anchorCtr="0">
            <a:normAutofit/>
          </a:bodyPr>
          <a:lstStyle/>
          <a:p>
            <a:pPr lvl="0">
              <a:lnSpc>
                <a:spcPct val="115000"/>
              </a:lnSpc>
            </a:pPr>
            <a:r>
              <a:rPr lang="it-IT" b="0" dirty="0" err="1"/>
              <a:t>Expected</a:t>
            </a:r>
            <a:r>
              <a:rPr lang="it-IT" b="0" dirty="0"/>
              <a:t> Goals – </a:t>
            </a:r>
            <a:r>
              <a:rPr lang="it-IT" b="0" dirty="0" err="1"/>
              <a:t>xG</a:t>
            </a:r>
            <a:endParaRPr sz="10300" dirty="0"/>
          </a:p>
        </p:txBody>
      </p:sp>
      <p:sp>
        <p:nvSpPr>
          <p:cNvPr id="57" name="Google Shape;57;p13"/>
          <p:cNvSpPr txBox="1">
            <a:spLocks noGrp="1"/>
          </p:cNvSpPr>
          <p:nvPr>
            <p:ph type="subTitle" idx="1"/>
          </p:nvPr>
        </p:nvSpPr>
        <p:spPr>
          <a:xfrm>
            <a:off x="311700" y="3736850"/>
            <a:ext cx="8520600" cy="706200"/>
          </a:xfrm>
          <a:prstGeom prst="rect">
            <a:avLst/>
          </a:prstGeom>
        </p:spPr>
        <p:txBody>
          <a:bodyPr spcFirstLastPara="1" wrap="square" lIns="91425" tIns="91425" rIns="91425" bIns="91425" anchor="ctr" anchorCtr="0">
            <a:noAutofit/>
          </a:bodyPr>
          <a:lstStyle/>
          <a:p>
            <a:pPr marL="0" lvl="0" indent="0" algn="r" rtl="0">
              <a:lnSpc>
                <a:spcPct val="90000"/>
              </a:lnSpc>
              <a:spcBef>
                <a:spcPts val="0"/>
              </a:spcBef>
              <a:spcAft>
                <a:spcPts val="0"/>
              </a:spcAft>
              <a:buSzPts val="688"/>
              <a:buNone/>
            </a:pPr>
            <a:r>
              <a:rPr lang="it" sz="1812" i="1" dirty="0"/>
              <a:t>Membri:</a:t>
            </a:r>
            <a:endParaRPr sz="1812" i="1" dirty="0"/>
          </a:p>
          <a:p>
            <a:pPr marL="0" lvl="0" indent="0" algn="r" rtl="0">
              <a:lnSpc>
                <a:spcPct val="90000"/>
              </a:lnSpc>
              <a:spcBef>
                <a:spcPts val="0"/>
              </a:spcBef>
              <a:spcAft>
                <a:spcPts val="0"/>
              </a:spcAft>
              <a:buSzPts val="688"/>
              <a:buNone/>
            </a:pPr>
            <a:r>
              <a:rPr lang="it" sz="1825" b="0" i="1" dirty="0">
                <a:solidFill>
                  <a:srgbClr val="000000"/>
                </a:solidFill>
                <a:latin typeface="Times New Roman"/>
                <a:ea typeface="Times New Roman"/>
                <a:cs typeface="Times New Roman"/>
                <a:sym typeface="Times New Roman"/>
              </a:rPr>
              <a:t>Santoro Francesco  05121-17079</a:t>
            </a:r>
            <a:endParaRPr sz="1825" b="0" i="1" dirty="0">
              <a:solidFill>
                <a:srgbClr val="000000"/>
              </a:solidFill>
              <a:latin typeface="Times New Roman"/>
              <a:ea typeface="Times New Roman"/>
              <a:cs typeface="Times New Roman"/>
              <a:sym typeface="Times New Roman"/>
            </a:endParaRPr>
          </a:p>
          <a:p>
            <a:pPr marL="0" lvl="0" indent="0" algn="r" rtl="0">
              <a:lnSpc>
                <a:spcPct val="140000"/>
              </a:lnSpc>
              <a:spcBef>
                <a:spcPts val="0"/>
              </a:spcBef>
              <a:spcAft>
                <a:spcPts val="0"/>
              </a:spcAft>
              <a:buSzPts val="688"/>
              <a:buNone/>
            </a:pPr>
            <a:r>
              <a:rPr lang="it" sz="1825" b="0" i="1" dirty="0">
                <a:solidFill>
                  <a:srgbClr val="000000"/>
                </a:solidFill>
                <a:latin typeface="Times New Roman"/>
                <a:ea typeface="Times New Roman"/>
                <a:cs typeface="Times New Roman"/>
                <a:sym typeface="Times New Roman"/>
              </a:rPr>
              <a:t>Cataudo Francesco Pio  05121-16773</a:t>
            </a:r>
            <a:endParaRPr sz="2012" i="1" dirty="0"/>
          </a:p>
        </p:txBody>
      </p:sp>
      <p:sp>
        <p:nvSpPr>
          <p:cNvPr id="58" name="Google Shape;58;p13"/>
          <p:cNvSpPr txBox="1"/>
          <p:nvPr/>
        </p:nvSpPr>
        <p:spPr>
          <a:xfrm>
            <a:off x="1984050" y="42800"/>
            <a:ext cx="5175900" cy="646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it" sz="1500">
                <a:solidFill>
                  <a:schemeClr val="accent1"/>
                </a:solidFill>
                <a:latin typeface="Source Code Pro"/>
                <a:ea typeface="Source Code Pro"/>
                <a:cs typeface="Source Code Pro"/>
                <a:sym typeface="Source Code Pro"/>
              </a:rPr>
              <a:t>Anno Accademico 2024/25</a:t>
            </a:r>
            <a:endParaRPr sz="1500">
              <a:solidFill>
                <a:schemeClr val="accent1"/>
              </a:solidFill>
              <a:latin typeface="Source Code Pro"/>
              <a:ea typeface="Source Code Pro"/>
              <a:cs typeface="Source Code Pro"/>
              <a:sym typeface="Source Code Pro"/>
            </a:endParaRPr>
          </a:p>
          <a:p>
            <a:pPr marL="0" lvl="0" indent="0" algn="ctr" rtl="0">
              <a:spcBef>
                <a:spcPts val="0"/>
              </a:spcBef>
              <a:spcAft>
                <a:spcPts val="0"/>
              </a:spcAft>
              <a:buNone/>
            </a:pPr>
            <a:r>
              <a:rPr lang="it" sz="1500">
                <a:solidFill>
                  <a:schemeClr val="accent1"/>
                </a:solidFill>
                <a:latin typeface="Source Code Pro"/>
                <a:ea typeface="Source Code Pro"/>
                <a:cs typeface="Source Code Pro"/>
                <a:sym typeface="Source Code Pro"/>
              </a:rPr>
              <a:t>Progetto di Machine Learning</a:t>
            </a:r>
            <a:endParaRPr sz="1500">
              <a:solidFill>
                <a:schemeClr val="accent1"/>
              </a:solidFill>
              <a:latin typeface="Source Code Pro"/>
              <a:ea typeface="Source Code Pro"/>
              <a:cs typeface="Source Code Pro"/>
              <a:sym typeface="Source Code Pr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dirty="0">
                <a:solidFill>
                  <a:srgbClr val="00B050"/>
                </a:solidFill>
              </a:rPr>
              <a:t>Identificazione del problema- </a:t>
            </a:r>
            <a:r>
              <a:rPr lang="it" sz="3100" dirty="0">
                <a:solidFill>
                  <a:srgbClr val="00B050"/>
                </a:solidFill>
              </a:rPr>
              <a:t>previsione dei goal nei tiri di calcio </a:t>
            </a:r>
            <a:endParaRPr sz="3100" dirty="0">
              <a:solidFill>
                <a:srgbClr val="00B050"/>
              </a:solidFill>
            </a:endParaRPr>
          </a:p>
        </p:txBody>
      </p:sp>
      <p:sp>
        <p:nvSpPr>
          <p:cNvPr id="64" name="Google Shape;64;p14"/>
          <p:cNvSpPr txBox="1">
            <a:spLocks noGrp="1"/>
          </p:cNvSpPr>
          <p:nvPr>
            <p:ph type="body" idx="1"/>
          </p:nvPr>
        </p:nvSpPr>
        <p:spPr>
          <a:xfrm>
            <a:off x="311700" y="1228675"/>
            <a:ext cx="8520600" cy="3340200"/>
          </a:xfrm>
          <a:prstGeom prst="rect">
            <a:avLst/>
          </a:prstGeom>
        </p:spPr>
        <p:txBody>
          <a:bodyPr spcFirstLastPara="1" wrap="square" lIns="91425" tIns="91425" rIns="91425" bIns="91425" anchor="t" anchorCtr="0">
            <a:normAutofit/>
          </a:bodyPr>
          <a:lstStyle/>
          <a:p>
            <a:pPr marL="114300" indent="0">
              <a:buNone/>
            </a:pPr>
            <a:r>
              <a:rPr lang="it-IT" sz="1400" dirty="0"/>
              <a:t>Nel calcio, la maggior parte dei tiri non si trasforma in goal, rendendo complessa la valutazione della reale pericolosità offensiva. Ogni tiro è influenzato da diversi fattori, come la posizione in campo, l’angolo di tiro e il contesto di gioco, che contribuiscono all’esito finale.</a:t>
            </a:r>
          </a:p>
          <a:p>
            <a:r>
              <a:rPr lang="it-IT" sz="1400" dirty="0"/>
              <a:t>L’obiettivo di questo progetto è sviluppare un modello di Machine Learning capace di stimare la probabilità che un tiro si trasformi in goal, producendo un valore di </a:t>
            </a:r>
            <a:r>
              <a:rPr lang="it-IT" sz="1400" b="1" dirty="0" err="1"/>
              <a:t>Expected</a:t>
            </a:r>
            <a:r>
              <a:rPr lang="it-IT" sz="1400" b="1" dirty="0"/>
              <a:t> Goals (</a:t>
            </a:r>
            <a:r>
              <a:rPr lang="it-IT" sz="1400" b="1" dirty="0" err="1"/>
              <a:t>xG</a:t>
            </a:r>
            <a:r>
              <a:rPr lang="it-IT" sz="1400" b="1" dirty="0"/>
              <a:t>)</a:t>
            </a:r>
            <a:r>
              <a:rPr lang="it-IT" sz="1400" dirty="0"/>
              <a:t> per ogni evento di tiro e consentendo un’analisi più accurata delle occasioni create.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5"/>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dirty="0">
                <a:solidFill>
                  <a:srgbClr val="00B050"/>
                </a:solidFill>
              </a:rPr>
              <a:t>Importanza del Problema</a:t>
            </a:r>
            <a:endParaRPr dirty="0">
              <a:solidFill>
                <a:srgbClr val="00B050"/>
              </a:solidFill>
            </a:endParaRPr>
          </a:p>
        </p:txBody>
      </p:sp>
      <p:sp>
        <p:nvSpPr>
          <p:cNvPr id="70" name="Google Shape;70;p15"/>
          <p:cNvSpPr txBox="1">
            <a:spLocks noGrp="1"/>
          </p:cNvSpPr>
          <p:nvPr>
            <p:ph type="body" idx="1"/>
          </p:nvPr>
        </p:nvSpPr>
        <p:spPr>
          <a:xfrm>
            <a:off x="311700" y="1228675"/>
            <a:ext cx="8520600" cy="3340200"/>
          </a:xfrm>
          <a:prstGeom prst="rect">
            <a:avLst/>
          </a:prstGeom>
        </p:spPr>
        <p:txBody>
          <a:bodyPr spcFirstLastPara="1" wrap="square" lIns="91425" tIns="91425" rIns="91425" bIns="91425" anchor="t" anchorCtr="0">
            <a:normAutofit/>
          </a:bodyPr>
          <a:lstStyle/>
          <a:p>
            <a:pPr marL="0" lvl="0" indent="0">
              <a:buNone/>
            </a:pPr>
            <a:r>
              <a:rPr lang="it-IT" sz="1400" dirty="0"/>
              <a:t>Stimare la probabilità di segnare un goal consente di valutare in modo oggettivo la qualità delle occasioni da rete, andando oltre il risultato finale. L’</a:t>
            </a:r>
            <a:r>
              <a:rPr lang="it-IT" sz="1400" dirty="0" err="1"/>
              <a:t>Expected</a:t>
            </a:r>
            <a:r>
              <a:rPr lang="it-IT" sz="1400" dirty="0"/>
              <a:t> Goals (</a:t>
            </a:r>
            <a:r>
              <a:rPr lang="it-IT" sz="1400" dirty="0" err="1"/>
              <a:t>xG</a:t>
            </a:r>
            <a:r>
              <a:rPr lang="it-IT" sz="1400" dirty="0"/>
              <a:t>) è oggi uno strumento fondamentale nell’analisi calcistica per confrontare prestazioni di squadre e giocatori in maniera più accurata e riproducibile.</a:t>
            </a:r>
            <a:r>
              <a:rPr lang="it" sz="1400" dirty="0">
                <a:solidFill>
                  <a:schemeClr val="accent1"/>
                </a:solidFill>
              </a:rPr>
              <a:t> sistema di previsione dell'impronta di carbonio permette di:</a:t>
            </a:r>
            <a:endParaRPr sz="1400" dirty="0">
              <a:solidFill>
                <a:schemeClr val="accent1"/>
              </a:solidFill>
            </a:endParaRPr>
          </a:p>
          <a:p>
            <a:pPr marL="0" lvl="0" indent="0" algn="l" rtl="0">
              <a:spcBef>
                <a:spcPts val="1200"/>
              </a:spcBef>
              <a:spcAft>
                <a:spcPts val="1200"/>
              </a:spcAft>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dirty="0">
                <a:solidFill>
                  <a:srgbClr val="00B050"/>
                </a:solidFill>
              </a:rPr>
              <a:t>Descrizione del dataset</a:t>
            </a:r>
            <a:endParaRPr dirty="0">
              <a:solidFill>
                <a:srgbClr val="00B050"/>
              </a:solidFill>
            </a:endParaRPr>
          </a:p>
        </p:txBody>
      </p:sp>
      <p:sp>
        <p:nvSpPr>
          <p:cNvPr id="76" name="Google Shape;76;p16"/>
          <p:cNvSpPr txBox="1">
            <a:spLocks noGrp="1"/>
          </p:cNvSpPr>
          <p:nvPr>
            <p:ph type="body" idx="1"/>
          </p:nvPr>
        </p:nvSpPr>
        <p:spPr>
          <a:xfrm>
            <a:off x="311700" y="909525"/>
            <a:ext cx="8520600" cy="4102800"/>
          </a:xfrm>
          <a:prstGeom prst="rect">
            <a:avLst/>
          </a:prstGeom>
        </p:spPr>
        <p:txBody>
          <a:bodyPr spcFirstLastPara="1" wrap="square" lIns="91425" tIns="91425" rIns="91425" bIns="91425" anchor="t" anchorCtr="0">
            <a:normAutofit fontScale="92500" lnSpcReduction="10000"/>
          </a:bodyPr>
          <a:lstStyle/>
          <a:p>
            <a:pPr marL="114300" indent="0">
              <a:buNone/>
            </a:pPr>
            <a:r>
              <a:rPr lang="it-IT" sz="1500" dirty="0"/>
              <a:t>Abbiamo utilizzato il dataset </a:t>
            </a:r>
            <a:r>
              <a:rPr lang="it-IT" sz="1500" b="1" dirty="0" err="1"/>
              <a:t>StatsBomb</a:t>
            </a:r>
            <a:r>
              <a:rPr lang="it-IT" sz="1500" b="1" dirty="0"/>
              <a:t> Open Data</a:t>
            </a:r>
            <a:r>
              <a:rPr lang="it-IT" sz="1500" dirty="0"/>
              <a:t>, disponibile pubblicamente al seguente link:</a:t>
            </a:r>
            <a:br>
              <a:rPr lang="it-IT" sz="1500" dirty="0"/>
            </a:br>
            <a:r>
              <a:rPr lang="it-IT" sz="1500" dirty="0">
                <a:hlinkClick r:id="rId3"/>
              </a:rPr>
              <a:t>https://github.com/statsbomb/open-data</a:t>
            </a:r>
            <a:endParaRPr lang="it-IT" sz="1500" dirty="0"/>
          </a:p>
          <a:p>
            <a:pPr marL="114300" indent="0">
              <a:buNone/>
            </a:pPr>
            <a:r>
              <a:rPr lang="it-IT" sz="1500" dirty="0"/>
              <a:t>Il dataset contiene dati dettagliati sugli eventi di partita, strutturati in formato JSON. In particolare, per questo progetto sono stati considerati esclusivamente gli eventi di </a:t>
            </a:r>
            <a:r>
              <a:rPr lang="it-IT" sz="1500" b="1" dirty="0"/>
              <a:t>tiro (shot)</a:t>
            </a:r>
            <a:r>
              <a:rPr lang="it-IT" sz="1500" dirty="0"/>
              <a:t>, che includono informazioni come:</a:t>
            </a:r>
          </a:p>
          <a:p>
            <a:pPr marL="114300" indent="0">
              <a:buNone/>
            </a:pPr>
            <a:r>
              <a:rPr lang="it-IT" sz="1500" dirty="0"/>
              <a:t>Coordinate del tiro sul campo</a:t>
            </a:r>
          </a:p>
          <a:p>
            <a:r>
              <a:rPr lang="it-IT" sz="1500" dirty="0"/>
              <a:t>Esito del tiro (goal / non goal)</a:t>
            </a:r>
          </a:p>
          <a:p>
            <a:r>
              <a:rPr lang="it-IT" sz="1500" dirty="0"/>
              <a:t>Parte del corpo utilizzata</a:t>
            </a:r>
          </a:p>
          <a:p>
            <a:r>
              <a:rPr lang="it-IT" sz="1500" dirty="0"/>
              <a:t>Tipo di tiro e tecnica</a:t>
            </a:r>
          </a:p>
          <a:p>
            <a:r>
              <a:rPr lang="it-IT" sz="1500" dirty="0"/>
              <a:t>Contesto di gioco (play pattern, pressione difensiva)</a:t>
            </a:r>
          </a:p>
          <a:p>
            <a:r>
              <a:rPr lang="it-IT" sz="1500" dirty="0"/>
              <a:t>Minuto e secondo dell’evento</a:t>
            </a:r>
          </a:p>
          <a:p>
            <a:r>
              <a:rPr lang="it-IT" sz="1500" dirty="0"/>
              <a:t>Valore di </a:t>
            </a:r>
            <a:r>
              <a:rPr lang="it-IT" sz="1500" dirty="0" err="1"/>
              <a:t>expected</a:t>
            </a:r>
            <a:r>
              <a:rPr lang="it-IT" sz="1500" dirty="0"/>
              <a:t> goals fornito da </a:t>
            </a:r>
            <a:r>
              <a:rPr lang="it-IT" sz="1500" dirty="0" err="1"/>
              <a:t>StatsBomb</a:t>
            </a:r>
            <a:r>
              <a:rPr lang="it-IT" sz="1500" dirty="0"/>
              <a:t> (</a:t>
            </a:r>
            <a:r>
              <a:rPr lang="it-IT" sz="1500" dirty="0" err="1"/>
              <a:t>statsbomb_xg</a:t>
            </a:r>
            <a:r>
              <a:rPr lang="it-IT" sz="1500" dirty="0"/>
              <a:t>), utilizzato solo a scopo di confronto</a:t>
            </a:r>
          </a:p>
          <a:p>
            <a:r>
              <a:rPr lang="it-IT" sz="1500" dirty="0"/>
              <a:t>I dati sono stati filtrati, puliti e trasformati per gestire valori mancanti e rendere le variabili categoriche utilizzabili dai modelli di Machine Learning.</a:t>
            </a:r>
          </a:p>
          <a:p>
            <a:pPr marL="0" lvl="0" indent="0" algn="l" rtl="0">
              <a:spcBef>
                <a:spcPts val="1200"/>
              </a:spcBef>
              <a:spcAft>
                <a:spcPts val="1200"/>
              </a:spcAft>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dirty="0">
                <a:solidFill>
                  <a:srgbClr val="00B050"/>
                </a:solidFill>
              </a:rPr>
              <a:t>Processing dei dati</a:t>
            </a:r>
            <a:endParaRPr dirty="0">
              <a:solidFill>
                <a:srgbClr val="00B050"/>
              </a:solidFill>
            </a:endParaRPr>
          </a:p>
        </p:txBody>
      </p:sp>
      <p:sp>
        <p:nvSpPr>
          <p:cNvPr id="82" name="Google Shape;82;p17"/>
          <p:cNvSpPr txBox="1">
            <a:spLocks noGrp="1"/>
          </p:cNvSpPr>
          <p:nvPr>
            <p:ph type="body" idx="1"/>
          </p:nvPr>
        </p:nvSpPr>
        <p:spPr>
          <a:xfrm>
            <a:off x="253325" y="901650"/>
            <a:ext cx="8520600" cy="3340200"/>
          </a:xfrm>
          <a:prstGeom prst="rect">
            <a:avLst/>
          </a:prstGeom>
        </p:spPr>
        <p:txBody>
          <a:bodyPr spcFirstLastPara="1" wrap="square" lIns="91425" tIns="91425" rIns="91425" bIns="91425" anchor="t" anchorCtr="0">
            <a:normAutofit/>
          </a:bodyPr>
          <a:lstStyle/>
          <a:p>
            <a:pPr marL="114300" indent="0">
              <a:buNone/>
            </a:pPr>
            <a:r>
              <a:rPr lang="it-IT" sz="1400" dirty="0"/>
              <a:t>Dopo un’analisi esplorativa del dataset, i dati sono stati sottoposti a diverse fasi di </a:t>
            </a:r>
            <a:r>
              <a:rPr lang="it-IT" sz="1400" dirty="0" err="1"/>
              <a:t>preprocessing</a:t>
            </a:r>
            <a:r>
              <a:rPr lang="it-IT" sz="1400" dirty="0"/>
              <a:t> al fine di renderli adatti all’addestramento dei modelli di Machine Learning. In particolare, sono stati gestiti i valori mancanti eliminando i tiri privi di informazioni fondamentali, come le coordinate di tiro. Successivamente, le variabili categoriche sono state trasformate in formato numerico tramite tecniche di </a:t>
            </a:r>
            <a:r>
              <a:rPr lang="it-IT" sz="1400" dirty="0" err="1"/>
              <a:t>encoding</a:t>
            </a:r>
            <a:r>
              <a:rPr lang="it-IT" sz="1400" dirty="0"/>
              <a:t>. Il dataset finale è stato infine suddiviso in un insieme di addestramento (80%) e uno di test (20%), mantenendo la distribuzione originale della variabile target.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05E458-DC84-1597-1286-9CE62352C353}"/>
              </a:ext>
            </a:extLst>
          </p:cNvPr>
          <p:cNvSpPr>
            <a:spLocks noGrp="1"/>
          </p:cNvSpPr>
          <p:nvPr>
            <p:ph type="title"/>
          </p:nvPr>
        </p:nvSpPr>
        <p:spPr/>
        <p:txBody>
          <a:bodyPr>
            <a:normAutofit fontScale="90000"/>
          </a:bodyPr>
          <a:lstStyle/>
          <a:p>
            <a:r>
              <a:rPr lang="it-IT" dirty="0"/>
              <a:t>Processing dei dati</a:t>
            </a:r>
            <a:br>
              <a:rPr lang="it-IT" dirty="0"/>
            </a:br>
            <a:endParaRPr lang="it-IT" dirty="0"/>
          </a:p>
        </p:txBody>
      </p:sp>
      <p:sp>
        <p:nvSpPr>
          <p:cNvPr id="3" name="Segnaposto testo 2">
            <a:extLst>
              <a:ext uri="{FF2B5EF4-FFF2-40B4-BE49-F238E27FC236}">
                <a16:creationId xmlns:a16="http://schemas.microsoft.com/office/drawing/2014/main" id="{24EC6F31-BD69-1169-16C5-C0D682CF3579}"/>
              </a:ext>
            </a:extLst>
          </p:cNvPr>
          <p:cNvSpPr>
            <a:spLocks noGrp="1"/>
          </p:cNvSpPr>
          <p:nvPr>
            <p:ph type="body" idx="1"/>
          </p:nvPr>
        </p:nvSpPr>
        <p:spPr/>
        <p:txBody>
          <a:bodyPr/>
          <a:lstStyle/>
          <a:p>
            <a:pPr marL="114300" indent="0">
              <a:buNone/>
            </a:pPr>
            <a:r>
              <a:rPr lang="it-IT" dirty="0"/>
              <a:t>TABELLA RIASSUNTIVA:</a:t>
            </a:r>
          </a:p>
          <a:p>
            <a:pPr marL="114300" indent="0">
              <a:buNone/>
            </a:pPr>
            <a:endParaRPr lang="it-IT" dirty="0"/>
          </a:p>
        </p:txBody>
      </p:sp>
      <p:graphicFrame>
        <p:nvGraphicFramePr>
          <p:cNvPr id="4" name="Tabella 3">
            <a:extLst>
              <a:ext uri="{FF2B5EF4-FFF2-40B4-BE49-F238E27FC236}">
                <a16:creationId xmlns:a16="http://schemas.microsoft.com/office/drawing/2014/main" id="{F9535FD4-89F4-B63A-CD38-7029B6516332}"/>
              </a:ext>
            </a:extLst>
          </p:cNvPr>
          <p:cNvGraphicFramePr>
            <a:graphicFrameLocks noGrp="1"/>
          </p:cNvGraphicFramePr>
          <p:nvPr>
            <p:extLst>
              <p:ext uri="{D42A27DB-BD31-4B8C-83A1-F6EECF244321}">
                <p14:modId xmlns:p14="http://schemas.microsoft.com/office/powerpoint/2010/main" val="3055193893"/>
              </p:ext>
            </p:extLst>
          </p:nvPr>
        </p:nvGraphicFramePr>
        <p:xfrm>
          <a:off x="311150" y="1984375"/>
          <a:ext cx="8521700" cy="1828800"/>
        </p:xfrm>
        <a:graphic>
          <a:graphicData uri="http://schemas.openxmlformats.org/drawingml/2006/table">
            <a:tbl>
              <a:tblPr/>
              <a:tblGrid>
                <a:gridCol w="4260850">
                  <a:extLst>
                    <a:ext uri="{9D8B030D-6E8A-4147-A177-3AD203B41FA5}">
                      <a16:colId xmlns:a16="http://schemas.microsoft.com/office/drawing/2014/main" val="322923269"/>
                    </a:ext>
                  </a:extLst>
                </a:gridCol>
                <a:gridCol w="4260850">
                  <a:extLst>
                    <a:ext uri="{9D8B030D-6E8A-4147-A177-3AD203B41FA5}">
                      <a16:colId xmlns:a16="http://schemas.microsoft.com/office/drawing/2014/main" val="277542286"/>
                    </a:ext>
                  </a:extLst>
                </a:gridCol>
              </a:tblGrid>
              <a:tr h="0">
                <a:tc>
                  <a:txBody>
                    <a:bodyPr/>
                    <a:lstStyle/>
                    <a:p>
                      <a:pPr>
                        <a:buNone/>
                      </a:pPr>
                      <a:r>
                        <a:rPr lang="it-IT" dirty="0"/>
                        <a:t>Fase</a:t>
                      </a:r>
                    </a:p>
                  </a:txBody>
                  <a:tcPr anchor="ctr">
                    <a:lnL>
                      <a:noFill/>
                    </a:lnL>
                    <a:lnR>
                      <a:noFill/>
                    </a:lnR>
                    <a:lnT>
                      <a:noFill/>
                    </a:lnT>
                    <a:lnB>
                      <a:noFill/>
                    </a:lnB>
                    <a:noFill/>
                  </a:tcPr>
                </a:tc>
                <a:tc>
                  <a:txBody>
                    <a:bodyPr/>
                    <a:lstStyle/>
                    <a:p>
                      <a:pPr>
                        <a:buNone/>
                      </a:pPr>
                      <a:r>
                        <a:rPr lang="it-IT"/>
                        <a:t>Descrizione</a:t>
                      </a:r>
                    </a:p>
                  </a:txBody>
                  <a:tcPr anchor="ctr">
                    <a:lnL>
                      <a:noFill/>
                    </a:lnL>
                    <a:lnR>
                      <a:noFill/>
                    </a:lnR>
                    <a:lnT>
                      <a:noFill/>
                    </a:lnT>
                    <a:lnB>
                      <a:noFill/>
                    </a:lnB>
                    <a:noFill/>
                  </a:tcPr>
                </a:tc>
                <a:extLst>
                  <a:ext uri="{0D108BD9-81ED-4DB2-BD59-A6C34878D82A}">
                    <a16:rowId xmlns:a16="http://schemas.microsoft.com/office/drawing/2014/main" val="4077511144"/>
                  </a:ext>
                </a:extLst>
              </a:tr>
              <a:tr h="0">
                <a:tc>
                  <a:txBody>
                    <a:bodyPr/>
                    <a:lstStyle/>
                    <a:p>
                      <a:pPr>
                        <a:buNone/>
                      </a:pPr>
                      <a:r>
                        <a:rPr lang="it-IT" dirty="0">
                          <a:solidFill>
                            <a:schemeClr val="accent1"/>
                          </a:solidFill>
                        </a:rPr>
                        <a:t>Selezione dati</a:t>
                      </a:r>
                    </a:p>
                  </a:txBody>
                  <a:tcPr anchor="ctr">
                    <a:lnL>
                      <a:noFill/>
                    </a:lnL>
                    <a:lnR>
                      <a:noFill/>
                    </a:lnR>
                    <a:lnT>
                      <a:noFill/>
                    </a:lnT>
                    <a:lnB>
                      <a:noFill/>
                    </a:lnB>
                    <a:noFill/>
                  </a:tcPr>
                </a:tc>
                <a:tc>
                  <a:txBody>
                    <a:bodyPr/>
                    <a:lstStyle/>
                    <a:p>
                      <a:pPr>
                        <a:buNone/>
                      </a:pPr>
                      <a:r>
                        <a:rPr lang="it-IT" b="1" dirty="0">
                          <a:solidFill>
                            <a:schemeClr val="accent1"/>
                          </a:solidFill>
                        </a:rPr>
                        <a:t>Estrazione degli eventi di tiro (shot)</a:t>
                      </a:r>
                    </a:p>
                  </a:txBody>
                  <a:tcPr anchor="ctr">
                    <a:lnL>
                      <a:noFill/>
                    </a:lnL>
                    <a:lnR>
                      <a:noFill/>
                    </a:lnR>
                    <a:lnT>
                      <a:noFill/>
                    </a:lnT>
                    <a:lnB>
                      <a:noFill/>
                    </a:lnB>
                    <a:noFill/>
                  </a:tcPr>
                </a:tc>
                <a:extLst>
                  <a:ext uri="{0D108BD9-81ED-4DB2-BD59-A6C34878D82A}">
                    <a16:rowId xmlns:a16="http://schemas.microsoft.com/office/drawing/2014/main" val="1069107922"/>
                  </a:ext>
                </a:extLst>
              </a:tr>
              <a:tr h="0">
                <a:tc>
                  <a:txBody>
                    <a:bodyPr/>
                    <a:lstStyle/>
                    <a:p>
                      <a:pPr>
                        <a:buNone/>
                      </a:pPr>
                      <a:r>
                        <a:rPr lang="it-IT" dirty="0">
                          <a:solidFill>
                            <a:schemeClr val="accent1"/>
                          </a:solidFill>
                        </a:rPr>
                        <a:t>Gestione valori mancanti</a:t>
                      </a:r>
                    </a:p>
                  </a:txBody>
                  <a:tcPr anchor="ctr">
                    <a:lnL>
                      <a:noFill/>
                    </a:lnL>
                    <a:lnR>
                      <a:noFill/>
                    </a:lnR>
                    <a:lnT>
                      <a:noFill/>
                    </a:lnT>
                    <a:lnB>
                      <a:noFill/>
                    </a:lnB>
                    <a:noFill/>
                  </a:tcPr>
                </a:tc>
                <a:tc>
                  <a:txBody>
                    <a:bodyPr/>
                    <a:lstStyle/>
                    <a:p>
                      <a:pPr>
                        <a:buNone/>
                      </a:pPr>
                      <a:r>
                        <a:rPr lang="it-IT" dirty="0">
                          <a:solidFill>
                            <a:schemeClr val="accent1"/>
                          </a:solidFill>
                        </a:rPr>
                        <a:t>Rimozione dei tiri senza coordinate o target</a:t>
                      </a:r>
                    </a:p>
                  </a:txBody>
                  <a:tcPr anchor="ctr">
                    <a:lnL>
                      <a:noFill/>
                    </a:lnL>
                    <a:lnR>
                      <a:noFill/>
                    </a:lnR>
                    <a:lnT>
                      <a:noFill/>
                    </a:lnT>
                    <a:lnB>
                      <a:noFill/>
                    </a:lnB>
                    <a:noFill/>
                  </a:tcPr>
                </a:tc>
                <a:extLst>
                  <a:ext uri="{0D108BD9-81ED-4DB2-BD59-A6C34878D82A}">
                    <a16:rowId xmlns:a16="http://schemas.microsoft.com/office/drawing/2014/main" val="980072961"/>
                  </a:ext>
                </a:extLst>
              </a:tr>
              <a:tr h="0">
                <a:tc>
                  <a:txBody>
                    <a:bodyPr/>
                    <a:lstStyle/>
                    <a:p>
                      <a:pPr>
                        <a:buNone/>
                      </a:pPr>
                      <a:r>
                        <a:rPr lang="it-IT">
                          <a:solidFill>
                            <a:schemeClr val="accent1"/>
                          </a:solidFill>
                        </a:rPr>
                        <a:t>Feature engineering</a:t>
                      </a:r>
                    </a:p>
                  </a:txBody>
                  <a:tcPr anchor="ctr">
                    <a:lnL>
                      <a:noFill/>
                    </a:lnL>
                    <a:lnR>
                      <a:noFill/>
                    </a:lnR>
                    <a:lnT>
                      <a:noFill/>
                    </a:lnT>
                    <a:lnB>
                      <a:noFill/>
                    </a:lnB>
                    <a:noFill/>
                  </a:tcPr>
                </a:tc>
                <a:tc>
                  <a:txBody>
                    <a:bodyPr/>
                    <a:lstStyle/>
                    <a:p>
                      <a:pPr>
                        <a:buNone/>
                      </a:pPr>
                      <a:r>
                        <a:rPr lang="it-IT" dirty="0">
                          <a:solidFill>
                            <a:schemeClr val="accent1"/>
                          </a:solidFill>
                        </a:rPr>
                        <a:t>Calcolo di distanza e angolo di tiro</a:t>
                      </a:r>
                    </a:p>
                  </a:txBody>
                  <a:tcPr anchor="ctr">
                    <a:lnL>
                      <a:noFill/>
                    </a:lnL>
                    <a:lnR>
                      <a:noFill/>
                    </a:lnR>
                    <a:lnT>
                      <a:noFill/>
                    </a:lnT>
                    <a:lnB>
                      <a:noFill/>
                    </a:lnB>
                    <a:noFill/>
                  </a:tcPr>
                </a:tc>
                <a:extLst>
                  <a:ext uri="{0D108BD9-81ED-4DB2-BD59-A6C34878D82A}">
                    <a16:rowId xmlns:a16="http://schemas.microsoft.com/office/drawing/2014/main" val="3855834025"/>
                  </a:ext>
                </a:extLst>
              </a:tr>
              <a:tr h="0">
                <a:tc>
                  <a:txBody>
                    <a:bodyPr/>
                    <a:lstStyle/>
                    <a:p>
                      <a:pPr>
                        <a:buNone/>
                      </a:pPr>
                      <a:r>
                        <a:rPr lang="it-IT">
                          <a:solidFill>
                            <a:schemeClr val="accent1"/>
                          </a:solidFill>
                        </a:rPr>
                        <a:t>Encoding</a:t>
                      </a:r>
                    </a:p>
                  </a:txBody>
                  <a:tcPr anchor="ctr">
                    <a:lnL>
                      <a:noFill/>
                    </a:lnL>
                    <a:lnR>
                      <a:noFill/>
                    </a:lnR>
                    <a:lnT>
                      <a:noFill/>
                    </a:lnT>
                    <a:lnB>
                      <a:noFill/>
                    </a:lnB>
                    <a:noFill/>
                  </a:tcPr>
                </a:tc>
                <a:tc>
                  <a:txBody>
                    <a:bodyPr/>
                    <a:lstStyle/>
                    <a:p>
                      <a:pPr>
                        <a:buNone/>
                      </a:pPr>
                      <a:r>
                        <a:rPr lang="it-IT" dirty="0">
                          <a:solidFill>
                            <a:schemeClr val="accent1"/>
                          </a:solidFill>
                        </a:rPr>
                        <a:t>Trasformazione delle variabili categoriche</a:t>
                      </a:r>
                    </a:p>
                  </a:txBody>
                  <a:tcPr anchor="ctr">
                    <a:lnL>
                      <a:noFill/>
                    </a:lnL>
                    <a:lnR>
                      <a:noFill/>
                    </a:lnR>
                    <a:lnT>
                      <a:noFill/>
                    </a:lnT>
                    <a:lnB>
                      <a:noFill/>
                    </a:lnB>
                    <a:noFill/>
                  </a:tcPr>
                </a:tc>
                <a:extLst>
                  <a:ext uri="{0D108BD9-81ED-4DB2-BD59-A6C34878D82A}">
                    <a16:rowId xmlns:a16="http://schemas.microsoft.com/office/drawing/2014/main" val="3462828750"/>
                  </a:ext>
                </a:extLst>
              </a:tr>
              <a:tr h="0">
                <a:tc>
                  <a:txBody>
                    <a:bodyPr/>
                    <a:lstStyle/>
                    <a:p>
                      <a:pPr>
                        <a:buNone/>
                      </a:pPr>
                      <a:r>
                        <a:rPr lang="it-IT" dirty="0">
                          <a:solidFill>
                            <a:schemeClr val="accent1"/>
                          </a:solidFill>
                        </a:rPr>
                        <a:t>Suddivisione dataset</a:t>
                      </a:r>
                    </a:p>
                  </a:txBody>
                  <a:tcPr anchor="ctr">
                    <a:lnL>
                      <a:noFill/>
                    </a:lnL>
                    <a:lnR>
                      <a:noFill/>
                    </a:lnR>
                    <a:lnT>
                      <a:noFill/>
                    </a:lnT>
                    <a:lnB>
                      <a:noFill/>
                    </a:lnB>
                    <a:noFill/>
                  </a:tcPr>
                </a:tc>
                <a:tc>
                  <a:txBody>
                    <a:bodyPr/>
                    <a:lstStyle/>
                    <a:p>
                      <a:pPr>
                        <a:buNone/>
                      </a:pPr>
                      <a:r>
                        <a:rPr lang="en-US" dirty="0">
                          <a:solidFill>
                            <a:schemeClr val="accent1"/>
                          </a:solidFill>
                        </a:rPr>
                        <a:t>80% training – 20% test (</a:t>
                      </a:r>
                      <a:r>
                        <a:rPr lang="en-US" dirty="0" err="1">
                          <a:solidFill>
                            <a:schemeClr val="accent1"/>
                          </a:solidFill>
                        </a:rPr>
                        <a:t>stratificata</a:t>
                      </a:r>
                      <a:r>
                        <a:rPr lang="en-US" dirty="0">
                          <a:solidFill>
                            <a:schemeClr val="accent1"/>
                          </a:solidFill>
                        </a:rPr>
                        <a:t>)</a:t>
                      </a:r>
                    </a:p>
                  </a:txBody>
                  <a:tcPr anchor="ctr">
                    <a:lnL>
                      <a:noFill/>
                    </a:lnL>
                    <a:lnR>
                      <a:noFill/>
                    </a:lnR>
                    <a:lnT>
                      <a:noFill/>
                    </a:lnT>
                    <a:lnB>
                      <a:noFill/>
                    </a:lnB>
                    <a:noFill/>
                  </a:tcPr>
                </a:tc>
                <a:extLst>
                  <a:ext uri="{0D108BD9-81ED-4DB2-BD59-A6C34878D82A}">
                    <a16:rowId xmlns:a16="http://schemas.microsoft.com/office/drawing/2014/main" val="3097862747"/>
                  </a:ext>
                </a:extLst>
              </a:tr>
            </a:tbl>
          </a:graphicData>
        </a:graphic>
      </p:graphicFrame>
    </p:spTree>
    <p:extLst>
      <p:ext uri="{BB962C8B-B14F-4D97-AF65-F5344CB8AC3E}">
        <p14:creationId xmlns:p14="http://schemas.microsoft.com/office/powerpoint/2010/main" val="3874745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8"/>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dirty="0">
                <a:solidFill>
                  <a:srgbClr val="00B050"/>
                </a:solidFill>
              </a:rPr>
              <a:t>Modelli utilizzati</a:t>
            </a:r>
            <a:endParaRPr dirty="0">
              <a:solidFill>
                <a:srgbClr val="00B050"/>
              </a:solidFill>
            </a:endParaRPr>
          </a:p>
        </p:txBody>
      </p:sp>
      <p:sp>
        <p:nvSpPr>
          <p:cNvPr id="89" name="Google Shape;89;p18"/>
          <p:cNvSpPr txBox="1">
            <a:spLocks noGrp="1"/>
          </p:cNvSpPr>
          <p:nvPr>
            <p:ph type="body" idx="1"/>
          </p:nvPr>
        </p:nvSpPr>
        <p:spPr>
          <a:xfrm>
            <a:off x="311700" y="937900"/>
            <a:ext cx="8520600" cy="4105800"/>
          </a:xfrm>
          <a:prstGeom prst="rect">
            <a:avLst/>
          </a:prstGeom>
        </p:spPr>
        <p:txBody>
          <a:bodyPr spcFirstLastPara="1" wrap="square" lIns="91425" tIns="91425" rIns="91425" bIns="91425" anchor="t" anchorCtr="0">
            <a:normAutofit/>
          </a:bodyPr>
          <a:lstStyle/>
          <a:p>
            <a:pPr marL="114300" indent="0">
              <a:buNone/>
            </a:pPr>
            <a:r>
              <a:rPr lang="it-IT" sz="1400" dirty="0"/>
              <a:t>Per affrontare il problema di classificazione binaria della probabilità di goal, sono stati testati diversi modelli di Machine Learning studiati durante il corso. In particolare, è stato utilizzato un modello di </a:t>
            </a:r>
            <a:r>
              <a:rPr lang="it-IT" sz="1400" b="1" dirty="0" err="1"/>
              <a:t>Naive</a:t>
            </a:r>
            <a:r>
              <a:rPr lang="it-IT" sz="1400" b="1" dirty="0"/>
              <a:t> </a:t>
            </a:r>
            <a:r>
              <a:rPr lang="it-IT" sz="1400" b="1" dirty="0" err="1"/>
              <a:t>Bayes</a:t>
            </a:r>
            <a:r>
              <a:rPr lang="it-IT" sz="1400" dirty="0"/>
              <a:t> come baseline, affiancato da modelli più complessi come </a:t>
            </a:r>
            <a:r>
              <a:rPr lang="it-IT" sz="1400" b="1" dirty="0" err="1"/>
              <a:t>Decision</a:t>
            </a:r>
            <a:r>
              <a:rPr lang="it-IT" sz="1400" b="1" dirty="0"/>
              <a:t> Tree</a:t>
            </a:r>
            <a:r>
              <a:rPr lang="it-IT" sz="1400" dirty="0"/>
              <a:t> e </a:t>
            </a:r>
            <a:r>
              <a:rPr lang="it-IT" sz="1400" b="1" dirty="0"/>
              <a:t>Random </a:t>
            </a:r>
            <a:r>
              <a:rPr lang="it-IT" sz="1400" b="1" dirty="0" err="1"/>
              <a:t>Forest</a:t>
            </a:r>
            <a:r>
              <a:rPr lang="it-IT" sz="1400" dirty="0"/>
              <a:t>, in grado di catturare relazioni non lineari tra le feature.</a:t>
            </a:r>
          </a:p>
          <a:p>
            <a:pPr marL="114300" indent="0">
              <a:buNone/>
            </a:pPr>
            <a:r>
              <a:rPr lang="it-IT" sz="1400" dirty="0"/>
              <a:t>I modelli sono stati confrontati valutandone le prestazioni sul set di test attraverso metriche di classificazione tradizionali, con particolare attenzione alla natura sbilanciata del dataset e alla capacità di stimare correttamente la probabilità di goal (</a:t>
            </a:r>
            <a:r>
              <a:rPr lang="it-IT" sz="1400" dirty="0" err="1"/>
              <a:t>xG</a:t>
            </a:r>
            <a:r>
              <a:rPr lang="it-IT" sz="1400" dirty="0"/>
              <a:t>).</a:t>
            </a:r>
          </a:p>
          <a:p>
            <a:pPr marL="0" lvl="0" indent="0" algn="l" rtl="0">
              <a:spcBef>
                <a:spcPts val="1200"/>
              </a:spcBef>
              <a:spcAft>
                <a:spcPts val="0"/>
              </a:spcAft>
              <a:buNone/>
            </a:pPr>
            <a:endParaRPr sz="1300" dirty="0"/>
          </a:p>
          <a:p>
            <a:pPr marL="0" lvl="0" indent="0" algn="l" rtl="0">
              <a:spcBef>
                <a:spcPts val="1200"/>
              </a:spcBef>
              <a:spcAft>
                <a:spcPts val="1200"/>
              </a:spcAft>
              <a:buNone/>
            </a:pPr>
            <a:endParaRPr sz="1400" b="1" dirty="0">
              <a:solidFill>
                <a:schemeClr val="accent1"/>
              </a:solidFill>
              <a:latin typeface="Source Code Pro Black" panose="020B0809030403020204" pitchFamily="49" charset="0"/>
              <a:ea typeface="Source Code Pro Black" panose="020B0809030403020204" pitchFamily="49"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9"/>
          <p:cNvSpPr txBox="1">
            <a:spLocks noGrp="1"/>
          </p:cNvSpPr>
          <p:nvPr>
            <p:ph type="title"/>
          </p:nvPr>
        </p:nvSpPr>
        <p:spPr>
          <a:xfrm>
            <a:off x="311700" y="7590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dirty="0">
                <a:solidFill>
                  <a:srgbClr val="00B050"/>
                </a:solidFill>
              </a:rPr>
              <a:t>Modelli utilizzati: Random Forest</a:t>
            </a:r>
            <a:endParaRPr dirty="0">
              <a:solidFill>
                <a:srgbClr val="00B050"/>
              </a:solidFill>
            </a:endParaRPr>
          </a:p>
        </p:txBody>
      </p:sp>
      <p:sp>
        <p:nvSpPr>
          <p:cNvPr id="95" name="Google Shape;95;p19"/>
          <p:cNvSpPr txBox="1">
            <a:spLocks noGrp="1"/>
          </p:cNvSpPr>
          <p:nvPr>
            <p:ph type="body" idx="1"/>
          </p:nvPr>
        </p:nvSpPr>
        <p:spPr>
          <a:xfrm>
            <a:off x="194175" y="776700"/>
            <a:ext cx="3546552" cy="3227264"/>
          </a:xfrm>
          <a:prstGeom prst="rect">
            <a:avLst/>
          </a:prstGeom>
        </p:spPr>
        <p:txBody>
          <a:bodyPr spcFirstLastPara="1" wrap="square" lIns="91425" tIns="91425" rIns="91425" bIns="91425" anchor="t" anchorCtr="0">
            <a:normAutofit fontScale="92500"/>
          </a:bodyPr>
          <a:lstStyle/>
          <a:p>
            <a:pPr marL="0" lvl="0" indent="0" algn="l" rtl="0">
              <a:lnSpc>
                <a:spcPct val="130000"/>
              </a:lnSpc>
              <a:spcBef>
                <a:spcPts val="1200"/>
              </a:spcBef>
              <a:spcAft>
                <a:spcPts val="1200"/>
              </a:spcAft>
              <a:buNone/>
            </a:pPr>
            <a:r>
              <a:rPr lang="it" sz="1300" dirty="0">
                <a:solidFill>
                  <a:srgbClr val="000000"/>
                </a:solidFill>
              </a:rPr>
              <a:t>Il </a:t>
            </a:r>
            <a:r>
              <a:rPr lang="it" sz="1300" b="1" dirty="0">
                <a:solidFill>
                  <a:srgbClr val="000000"/>
                </a:solidFill>
              </a:rPr>
              <a:t>Random Forest</a:t>
            </a:r>
            <a:r>
              <a:rPr lang="it" sz="1300" dirty="0">
                <a:solidFill>
                  <a:srgbClr val="000000"/>
                </a:solidFill>
              </a:rPr>
              <a:t> è un algoritmo di apprendimento automatico ampiamente utilizzato, che combina i risultati di più alberi di decisione per produrre una previsione finale. Si basa su un'estensione della tecnica del bagging, integrando anche la selezione casuale delle caratteristiche per generare una foresta di alberi di decisione tra loro indipendenti. </a:t>
            </a:r>
            <a:endParaRPr sz="1500" dirty="0"/>
          </a:p>
        </p:txBody>
      </p:sp>
      <p:sp>
        <p:nvSpPr>
          <p:cNvPr id="97" name="Google Shape;97;p19"/>
          <p:cNvSpPr txBox="1"/>
          <p:nvPr/>
        </p:nvSpPr>
        <p:spPr>
          <a:xfrm>
            <a:off x="138757" y="3357434"/>
            <a:ext cx="8373300" cy="14391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1200"/>
              </a:spcBef>
              <a:spcAft>
                <a:spcPts val="0"/>
              </a:spcAft>
              <a:buNone/>
            </a:pPr>
            <a:r>
              <a:rPr lang="it" sz="1300" dirty="0">
                <a:latin typeface="Source Code Pro"/>
                <a:ea typeface="Source Code Pro"/>
                <a:cs typeface="Source Code Pro"/>
                <a:sym typeface="Source Code Pro"/>
              </a:rPr>
              <a:t>Questo metodo è applicabile sia a problemi di classificazione che di regressione. La sua robustezza deriva dalla capacità di aggregare più alberi, migliorando l'accuratezza complessiva del modello. </a:t>
            </a:r>
            <a:endParaRPr sz="1300" dirty="0">
              <a:latin typeface="Source Code Pro"/>
              <a:ea typeface="Source Code Pro"/>
              <a:cs typeface="Source Code Pro"/>
              <a:sym typeface="Source Code Pro"/>
            </a:endParaRPr>
          </a:p>
          <a:p>
            <a:pPr marL="0" lvl="0" indent="0" algn="l" rtl="0">
              <a:lnSpc>
                <a:spcPct val="150000"/>
              </a:lnSpc>
              <a:spcBef>
                <a:spcPts val="1200"/>
              </a:spcBef>
              <a:spcAft>
                <a:spcPts val="1200"/>
              </a:spcAft>
              <a:buNone/>
            </a:pPr>
            <a:r>
              <a:rPr lang="it" sz="1300" dirty="0">
                <a:latin typeface="Source Code Pro"/>
                <a:ea typeface="Source Code Pro"/>
                <a:cs typeface="Source Code Pro"/>
                <a:sym typeface="Source Code Pro"/>
              </a:rPr>
              <a:t>Con queste caratteristiche, il modello raggiunge le seguenti prestazioni:</a:t>
            </a:r>
            <a:endParaRPr sz="1300" dirty="0">
              <a:solidFill>
                <a:schemeClr val="dk2"/>
              </a:solidFill>
              <a:latin typeface="Source Code Pro"/>
              <a:ea typeface="Source Code Pro"/>
              <a:cs typeface="Source Code Pro"/>
              <a:sym typeface="Source Code Pro"/>
            </a:endParaRPr>
          </a:p>
        </p:txBody>
      </p:sp>
      <p:pic>
        <p:nvPicPr>
          <p:cNvPr id="5" name="Immagine 4" descr="Immagine che contiene testo, schermata, diagramma, Policromia&#10;&#10;Il contenuto generato dall'IA potrebbe non essere corretto.">
            <a:extLst>
              <a:ext uri="{FF2B5EF4-FFF2-40B4-BE49-F238E27FC236}">
                <a16:creationId xmlns:a16="http://schemas.microsoft.com/office/drawing/2014/main" id="{8915EC2A-7D3E-E6ED-1281-F5B3255A12C8}"/>
              </a:ext>
            </a:extLst>
          </p:cNvPr>
          <p:cNvPicPr>
            <a:picLocks noChangeAspect="1"/>
          </p:cNvPicPr>
          <p:nvPr/>
        </p:nvPicPr>
        <p:blipFill>
          <a:blip r:embed="rId3"/>
          <a:stretch>
            <a:fillRect/>
          </a:stretch>
        </p:blipFill>
        <p:spPr>
          <a:xfrm>
            <a:off x="5828424" y="694775"/>
            <a:ext cx="3170103" cy="22354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0"/>
          <p:cNvSpPr txBox="1">
            <a:spLocks noGrp="1"/>
          </p:cNvSpPr>
          <p:nvPr>
            <p:ph type="title"/>
          </p:nvPr>
        </p:nvSpPr>
        <p:spPr>
          <a:xfrm>
            <a:off x="311700" y="193425"/>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dirty="0">
                <a:solidFill>
                  <a:srgbClr val="00B050"/>
                </a:solidFill>
              </a:rPr>
              <a:t>modelli utilizzati: Decision Tree</a:t>
            </a:r>
            <a:endParaRPr dirty="0">
              <a:solidFill>
                <a:srgbClr val="00B050"/>
              </a:solidFill>
            </a:endParaRPr>
          </a:p>
        </p:txBody>
      </p:sp>
      <p:sp>
        <p:nvSpPr>
          <p:cNvPr id="103" name="Google Shape;103;p20"/>
          <p:cNvSpPr txBox="1">
            <a:spLocks noGrp="1"/>
          </p:cNvSpPr>
          <p:nvPr>
            <p:ph type="body" idx="1"/>
          </p:nvPr>
        </p:nvSpPr>
        <p:spPr>
          <a:xfrm>
            <a:off x="102175" y="838750"/>
            <a:ext cx="3749389" cy="3442305"/>
          </a:xfrm>
          <a:prstGeom prst="rect">
            <a:avLst/>
          </a:prstGeom>
        </p:spPr>
        <p:txBody>
          <a:bodyPr spcFirstLastPara="1" wrap="square" lIns="91425" tIns="91425" rIns="91425" bIns="91425" anchor="t" anchorCtr="0">
            <a:normAutofit fontScale="92500"/>
          </a:bodyPr>
          <a:lstStyle/>
          <a:p>
            <a:pPr marL="0" lvl="0" indent="0" algn="l" rtl="0">
              <a:lnSpc>
                <a:spcPct val="150000"/>
              </a:lnSpc>
              <a:spcBef>
                <a:spcPts val="1200"/>
              </a:spcBef>
              <a:spcAft>
                <a:spcPts val="1200"/>
              </a:spcAft>
              <a:buNone/>
            </a:pPr>
            <a:r>
              <a:rPr lang="it" sz="1200" dirty="0">
                <a:solidFill>
                  <a:srgbClr val="000000"/>
                </a:solidFill>
              </a:rPr>
              <a:t>Un </a:t>
            </a:r>
            <a:r>
              <a:rPr lang="it" sz="1200" b="1" dirty="0">
                <a:solidFill>
                  <a:srgbClr val="000000"/>
                </a:solidFill>
              </a:rPr>
              <a:t>albero di decisione (Decision Tree)</a:t>
            </a:r>
            <a:r>
              <a:rPr lang="it" sz="1200" dirty="0">
                <a:solidFill>
                  <a:srgbClr val="000000"/>
                </a:solidFill>
              </a:rPr>
              <a:t> è un algoritmo di apprendimento supervisionato, impiegato sia per la classificazione che per la regressione. La sua struttura ad albero è composta da un nodo radice, rami, nodi interni e nodi foglia. Nei nodi interni vengono effettuati test sulle caratteristiche dei dati, mentre i nodi foglia rappresentano le decisioni finali basate sull'analisi degli attributi. </a:t>
            </a:r>
            <a:endParaRPr sz="1400" dirty="0"/>
          </a:p>
        </p:txBody>
      </p:sp>
      <p:sp>
        <p:nvSpPr>
          <p:cNvPr id="105" name="Google Shape;105;p20"/>
          <p:cNvSpPr txBox="1"/>
          <p:nvPr/>
        </p:nvSpPr>
        <p:spPr>
          <a:xfrm>
            <a:off x="102175" y="3858491"/>
            <a:ext cx="8880575" cy="1323409"/>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1200"/>
              </a:spcBef>
              <a:spcAft>
                <a:spcPts val="1200"/>
              </a:spcAft>
              <a:buNone/>
            </a:pPr>
            <a:r>
              <a:rPr lang="it" sz="1200" dirty="0">
                <a:latin typeface="Source Code Pro"/>
                <a:ea typeface="Source Code Pro"/>
                <a:cs typeface="Source Code Pro"/>
                <a:sym typeface="Source Code Pro"/>
              </a:rPr>
              <a:t>L'obiettivo dell'algoritmo è individuare la suddivisione ottimale dei dati per migliorare la previsione. Tuttavia, può soffrire di overfitting, ovvero adattarsi eccessivamente ai dati di addestramento. Il modello, con queste caratteristiche, raggiunge le seguenti prestazioni:</a:t>
            </a:r>
            <a:endParaRPr sz="1800" dirty="0">
              <a:solidFill>
                <a:schemeClr val="dk2"/>
              </a:solidFill>
              <a:latin typeface="Source Code Pro"/>
              <a:ea typeface="Source Code Pro"/>
              <a:cs typeface="Source Code Pro"/>
              <a:sym typeface="Source Code Pro"/>
            </a:endParaRPr>
          </a:p>
        </p:txBody>
      </p:sp>
      <p:pic>
        <p:nvPicPr>
          <p:cNvPr id="3" name="Immagine 2" descr="Immagine che contiene testo, schermata, diagramma, Policromia&#10;&#10;Il contenuto generato dall'IA potrebbe non essere corretto.">
            <a:extLst>
              <a:ext uri="{FF2B5EF4-FFF2-40B4-BE49-F238E27FC236}">
                <a16:creationId xmlns:a16="http://schemas.microsoft.com/office/drawing/2014/main" id="{9847C20E-2C36-9F0B-2280-AF35E47365BD}"/>
              </a:ext>
            </a:extLst>
          </p:cNvPr>
          <p:cNvPicPr>
            <a:picLocks noChangeAspect="1"/>
          </p:cNvPicPr>
          <p:nvPr/>
        </p:nvPicPr>
        <p:blipFill>
          <a:blip r:embed="rId3"/>
          <a:stretch>
            <a:fillRect/>
          </a:stretch>
        </p:blipFill>
        <p:spPr>
          <a:xfrm>
            <a:off x="5583380" y="994425"/>
            <a:ext cx="3560620" cy="26704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1"/>
          <p:cNvSpPr txBox="1">
            <a:spLocks noGrp="1"/>
          </p:cNvSpPr>
          <p:nvPr>
            <p:ph type="title"/>
          </p:nvPr>
        </p:nvSpPr>
        <p:spPr>
          <a:xfrm>
            <a:off x="311700" y="292850"/>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dirty="0">
                <a:solidFill>
                  <a:srgbClr val="00B050"/>
                </a:solidFill>
              </a:rPr>
              <a:t>Risultati e analisi</a:t>
            </a:r>
            <a:endParaRPr dirty="0">
              <a:solidFill>
                <a:srgbClr val="00B050"/>
              </a:solidFill>
            </a:endParaRPr>
          </a:p>
        </p:txBody>
      </p:sp>
      <p:graphicFrame>
        <p:nvGraphicFramePr>
          <p:cNvPr id="2" name="Tabella 1">
            <a:extLst>
              <a:ext uri="{FF2B5EF4-FFF2-40B4-BE49-F238E27FC236}">
                <a16:creationId xmlns:a16="http://schemas.microsoft.com/office/drawing/2014/main" id="{8AB541FB-D9BF-ED90-CEB8-5C51B24193AE}"/>
              </a:ext>
            </a:extLst>
          </p:cNvPr>
          <p:cNvGraphicFramePr>
            <a:graphicFrameLocks noGrp="1"/>
          </p:cNvGraphicFramePr>
          <p:nvPr>
            <p:extLst>
              <p:ext uri="{D42A27DB-BD31-4B8C-83A1-F6EECF244321}">
                <p14:modId xmlns:p14="http://schemas.microsoft.com/office/powerpoint/2010/main" val="4238063271"/>
              </p:ext>
            </p:extLst>
          </p:nvPr>
        </p:nvGraphicFramePr>
        <p:xfrm>
          <a:off x="581246" y="1228725"/>
          <a:ext cx="8084772" cy="3314376"/>
        </p:xfrm>
        <a:graphic>
          <a:graphicData uri="http://schemas.openxmlformats.org/drawingml/2006/table">
            <a:tbl>
              <a:tblPr/>
              <a:tblGrid>
                <a:gridCol w="1347462">
                  <a:extLst>
                    <a:ext uri="{9D8B030D-6E8A-4147-A177-3AD203B41FA5}">
                      <a16:colId xmlns:a16="http://schemas.microsoft.com/office/drawing/2014/main" val="1171623249"/>
                    </a:ext>
                  </a:extLst>
                </a:gridCol>
                <a:gridCol w="1347462">
                  <a:extLst>
                    <a:ext uri="{9D8B030D-6E8A-4147-A177-3AD203B41FA5}">
                      <a16:colId xmlns:a16="http://schemas.microsoft.com/office/drawing/2014/main" val="3277622438"/>
                    </a:ext>
                  </a:extLst>
                </a:gridCol>
                <a:gridCol w="1347462">
                  <a:extLst>
                    <a:ext uri="{9D8B030D-6E8A-4147-A177-3AD203B41FA5}">
                      <a16:colId xmlns:a16="http://schemas.microsoft.com/office/drawing/2014/main" val="3040690909"/>
                    </a:ext>
                  </a:extLst>
                </a:gridCol>
                <a:gridCol w="1347462">
                  <a:extLst>
                    <a:ext uri="{9D8B030D-6E8A-4147-A177-3AD203B41FA5}">
                      <a16:colId xmlns:a16="http://schemas.microsoft.com/office/drawing/2014/main" val="1092807595"/>
                    </a:ext>
                  </a:extLst>
                </a:gridCol>
                <a:gridCol w="1347462">
                  <a:extLst>
                    <a:ext uri="{9D8B030D-6E8A-4147-A177-3AD203B41FA5}">
                      <a16:colId xmlns:a16="http://schemas.microsoft.com/office/drawing/2014/main" val="2749224643"/>
                    </a:ext>
                  </a:extLst>
                </a:gridCol>
                <a:gridCol w="1347462">
                  <a:extLst>
                    <a:ext uri="{9D8B030D-6E8A-4147-A177-3AD203B41FA5}">
                      <a16:colId xmlns:a16="http://schemas.microsoft.com/office/drawing/2014/main" val="2576637656"/>
                    </a:ext>
                  </a:extLst>
                </a:gridCol>
              </a:tblGrid>
              <a:tr h="314925">
                <a:tc>
                  <a:txBody>
                    <a:bodyPr/>
                    <a:lstStyle/>
                    <a:p>
                      <a:pPr>
                        <a:buNone/>
                      </a:pPr>
                      <a:r>
                        <a:rPr lang="it-IT" sz="1300" dirty="0"/>
                        <a:t>Modello</a:t>
                      </a:r>
                    </a:p>
                  </a:txBody>
                  <a:tcPr marL="85644" marR="85644" marT="42822" marB="42822" anchor="ctr">
                    <a:lnL>
                      <a:noFill/>
                    </a:lnL>
                    <a:lnR>
                      <a:noFill/>
                    </a:lnR>
                    <a:lnT>
                      <a:noFill/>
                    </a:lnT>
                    <a:lnB>
                      <a:noFill/>
                    </a:lnB>
                    <a:noFill/>
                  </a:tcPr>
                </a:tc>
                <a:tc>
                  <a:txBody>
                    <a:bodyPr/>
                    <a:lstStyle/>
                    <a:p>
                      <a:pPr>
                        <a:buNone/>
                      </a:pPr>
                      <a:r>
                        <a:rPr lang="it-IT" sz="1300" dirty="0" err="1"/>
                        <a:t>Accuracy</a:t>
                      </a:r>
                      <a:endParaRPr lang="it-IT" sz="1300" dirty="0"/>
                    </a:p>
                  </a:txBody>
                  <a:tcPr marL="85644" marR="85644" marT="42822" marB="42822" anchor="ctr">
                    <a:lnL>
                      <a:noFill/>
                    </a:lnL>
                    <a:lnR>
                      <a:noFill/>
                    </a:lnR>
                    <a:lnT>
                      <a:noFill/>
                    </a:lnT>
                    <a:lnB>
                      <a:noFill/>
                    </a:lnB>
                    <a:noFill/>
                  </a:tcPr>
                </a:tc>
                <a:tc>
                  <a:txBody>
                    <a:bodyPr/>
                    <a:lstStyle/>
                    <a:p>
                      <a:pPr>
                        <a:buNone/>
                      </a:pPr>
                      <a:r>
                        <a:rPr lang="it-IT" sz="1300"/>
                        <a:t>F1-score (Goal)</a:t>
                      </a:r>
                    </a:p>
                  </a:txBody>
                  <a:tcPr marL="85644" marR="85644" marT="42822" marB="42822" anchor="ctr">
                    <a:lnL>
                      <a:noFill/>
                    </a:lnL>
                    <a:lnR>
                      <a:noFill/>
                    </a:lnR>
                    <a:lnT>
                      <a:noFill/>
                    </a:lnT>
                    <a:lnB>
                      <a:noFill/>
                    </a:lnB>
                    <a:noFill/>
                  </a:tcPr>
                </a:tc>
                <a:tc>
                  <a:txBody>
                    <a:bodyPr/>
                    <a:lstStyle/>
                    <a:p>
                      <a:pPr>
                        <a:buNone/>
                      </a:pPr>
                      <a:r>
                        <a:rPr lang="it-IT" sz="1300"/>
                        <a:t>ROC-AUC (nostro xG)</a:t>
                      </a:r>
                    </a:p>
                  </a:txBody>
                  <a:tcPr marL="85644" marR="85644" marT="42822" marB="42822" anchor="ctr">
                    <a:lnL>
                      <a:noFill/>
                    </a:lnL>
                    <a:lnR>
                      <a:noFill/>
                    </a:lnR>
                    <a:lnT>
                      <a:noFill/>
                    </a:lnT>
                    <a:lnB>
                      <a:noFill/>
                    </a:lnB>
                    <a:noFill/>
                  </a:tcPr>
                </a:tc>
                <a:tc>
                  <a:txBody>
                    <a:bodyPr/>
                    <a:lstStyle/>
                    <a:p>
                      <a:pPr>
                        <a:buNone/>
                      </a:pPr>
                      <a:r>
                        <a:rPr lang="it-IT" sz="1300"/>
                        <a:t>ROC-AUC (StatsBomb xG)</a:t>
                      </a:r>
                    </a:p>
                  </a:txBody>
                  <a:tcPr marL="85644" marR="85644" marT="42822" marB="42822" anchor="ctr">
                    <a:lnL>
                      <a:noFill/>
                    </a:lnL>
                    <a:lnR>
                      <a:noFill/>
                    </a:lnR>
                    <a:lnT>
                      <a:noFill/>
                    </a:lnT>
                    <a:lnB>
                      <a:noFill/>
                    </a:lnB>
                    <a:noFill/>
                  </a:tcPr>
                </a:tc>
                <a:tc>
                  <a:txBody>
                    <a:bodyPr/>
                    <a:lstStyle/>
                    <a:p>
                      <a:pPr>
                        <a:buNone/>
                      </a:pPr>
                      <a:r>
                        <a:rPr lang="it-IT" sz="1300"/>
                        <a:t>Analisi</a:t>
                      </a:r>
                    </a:p>
                  </a:txBody>
                  <a:tcPr marL="85644" marR="85644" marT="42822" marB="42822" anchor="ctr">
                    <a:lnL>
                      <a:noFill/>
                    </a:lnL>
                    <a:lnR>
                      <a:noFill/>
                    </a:lnR>
                    <a:lnT>
                      <a:noFill/>
                    </a:lnT>
                    <a:lnB>
                      <a:noFill/>
                    </a:lnB>
                    <a:noFill/>
                  </a:tcPr>
                </a:tc>
                <a:extLst>
                  <a:ext uri="{0D108BD9-81ED-4DB2-BD59-A6C34878D82A}">
                    <a16:rowId xmlns:a16="http://schemas.microsoft.com/office/drawing/2014/main" val="2305041725"/>
                  </a:ext>
                </a:extLst>
              </a:tr>
              <a:tr h="406777">
                <a:tc>
                  <a:txBody>
                    <a:bodyPr/>
                    <a:lstStyle/>
                    <a:p>
                      <a:pPr>
                        <a:buNone/>
                      </a:pPr>
                      <a:r>
                        <a:rPr lang="it-IT" sz="1300" dirty="0" err="1">
                          <a:solidFill>
                            <a:schemeClr val="accent1"/>
                          </a:solidFill>
                        </a:rPr>
                        <a:t>Naive</a:t>
                      </a:r>
                      <a:r>
                        <a:rPr lang="it-IT" sz="1300" dirty="0">
                          <a:solidFill>
                            <a:schemeClr val="accent1"/>
                          </a:solidFill>
                        </a:rPr>
                        <a:t> </a:t>
                      </a:r>
                      <a:r>
                        <a:rPr lang="it-IT" sz="1300" dirty="0" err="1">
                          <a:solidFill>
                            <a:schemeClr val="accent1"/>
                          </a:solidFill>
                        </a:rPr>
                        <a:t>Bayes</a:t>
                      </a:r>
                      <a:endParaRPr lang="it-IT" sz="1300" dirty="0">
                        <a:solidFill>
                          <a:schemeClr val="accent1"/>
                        </a:solidFill>
                      </a:endParaRPr>
                    </a:p>
                  </a:txBody>
                  <a:tcPr marL="85644" marR="85644" marT="42822" marB="42822" anchor="ctr">
                    <a:lnL>
                      <a:noFill/>
                    </a:lnL>
                    <a:lnR>
                      <a:noFill/>
                    </a:lnR>
                    <a:lnT>
                      <a:noFill/>
                    </a:lnT>
                    <a:lnB>
                      <a:noFill/>
                    </a:lnB>
                    <a:noFill/>
                  </a:tcPr>
                </a:tc>
                <a:tc>
                  <a:txBody>
                    <a:bodyPr/>
                    <a:lstStyle/>
                    <a:p>
                      <a:pPr>
                        <a:buNone/>
                      </a:pPr>
                      <a:r>
                        <a:rPr lang="it-IT" sz="1300" dirty="0">
                          <a:solidFill>
                            <a:schemeClr val="accent1"/>
                          </a:solidFill>
                        </a:rPr>
                        <a:t>0.89</a:t>
                      </a:r>
                    </a:p>
                  </a:txBody>
                  <a:tcPr marL="85644" marR="85644" marT="42822" marB="42822" anchor="ctr">
                    <a:lnL>
                      <a:noFill/>
                    </a:lnL>
                    <a:lnR>
                      <a:noFill/>
                    </a:lnR>
                    <a:lnT>
                      <a:noFill/>
                    </a:lnT>
                    <a:lnB>
                      <a:noFill/>
                    </a:lnB>
                    <a:noFill/>
                  </a:tcPr>
                </a:tc>
                <a:tc>
                  <a:txBody>
                    <a:bodyPr/>
                    <a:lstStyle/>
                    <a:p>
                      <a:pPr>
                        <a:buNone/>
                      </a:pPr>
                      <a:r>
                        <a:rPr lang="it-IT" sz="1300" dirty="0">
                          <a:solidFill>
                            <a:schemeClr val="accent1"/>
                          </a:solidFill>
                        </a:rPr>
                        <a:t>0.30</a:t>
                      </a:r>
                    </a:p>
                  </a:txBody>
                  <a:tcPr marL="85644" marR="85644" marT="42822" marB="42822" anchor="ctr">
                    <a:lnL>
                      <a:noFill/>
                    </a:lnL>
                    <a:lnR>
                      <a:noFill/>
                    </a:lnR>
                    <a:lnT>
                      <a:noFill/>
                    </a:lnT>
                    <a:lnB>
                      <a:noFill/>
                    </a:lnB>
                    <a:noFill/>
                  </a:tcPr>
                </a:tc>
                <a:tc>
                  <a:txBody>
                    <a:bodyPr/>
                    <a:lstStyle/>
                    <a:p>
                      <a:pPr>
                        <a:buNone/>
                      </a:pPr>
                      <a:r>
                        <a:rPr lang="it-IT" sz="1300" dirty="0">
                          <a:solidFill>
                            <a:schemeClr val="accent1"/>
                          </a:solidFill>
                        </a:rPr>
                        <a:t>0.755</a:t>
                      </a:r>
                    </a:p>
                  </a:txBody>
                  <a:tcPr marL="85644" marR="85644" marT="42822" marB="42822" anchor="ctr">
                    <a:lnL>
                      <a:noFill/>
                    </a:lnL>
                    <a:lnR>
                      <a:noFill/>
                    </a:lnR>
                    <a:lnT>
                      <a:noFill/>
                    </a:lnT>
                    <a:lnB>
                      <a:noFill/>
                    </a:lnB>
                    <a:noFill/>
                  </a:tcPr>
                </a:tc>
                <a:tc>
                  <a:txBody>
                    <a:bodyPr/>
                    <a:lstStyle/>
                    <a:p>
                      <a:pPr>
                        <a:buNone/>
                      </a:pPr>
                      <a:r>
                        <a:rPr lang="it-IT" sz="1300" dirty="0">
                          <a:solidFill>
                            <a:schemeClr val="accent1"/>
                          </a:solidFill>
                        </a:rPr>
                        <a:t>0.832</a:t>
                      </a:r>
                    </a:p>
                  </a:txBody>
                  <a:tcPr marL="85644" marR="85644" marT="42822" marB="42822" anchor="ctr">
                    <a:lnL>
                      <a:noFill/>
                    </a:lnL>
                    <a:lnR>
                      <a:noFill/>
                    </a:lnR>
                    <a:lnT>
                      <a:noFill/>
                    </a:lnT>
                    <a:lnB>
                      <a:noFill/>
                    </a:lnB>
                    <a:noFill/>
                  </a:tcPr>
                </a:tc>
                <a:tc>
                  <a:txBody>
                    <a:bodyPr/>
                    <a:lstStyle/>
                    <a:p>
                      <a:pPr>
                        <a:buNone/>
                      </a:pPr>
                      <a:r>
                        <a:rPr lang="it-IT" sz="1300" dirty="0">
                          <a:solidFill>
                            <a:schemeClr val="accent1"/>
                          </a:solidFill>
                        </a:rPr>
                        <a:t>Buona baseline, tende a sottostimare i goal</a:t>
                      </a:r>
                    </a:p>
                  </a:txBody>
                  <a:tcPr marL="85644" marR="85644" marT="42822" marB="42822" anchor="ctr">
                    <a:lnL>
                      <a:noFill/>
                    </a:lnL>
                    <a:lnR>
                      <a:noFill/>
                    </a:lnR>
                    <a:lnT>
                      <a:noFill/>
                    </a:lnT>
                    <a:lnB>
                      <a:noFill/>
                    </a:lnB>
                    <a:noFill/>
                  </a:tcPr>
                </a:tc>
                <a:extLst>
                  <a:ext uri="{0D108BD9-81ED-4DB2-BD59-A6C34878D82A}">
                    <a16:rowId xmlns:a16="http://schemas.microsoft.com/office/drawing/2014/main" val="2104613391"/>
                  </a:ext>
                </a:extLst>
              </a:tr>
              <a:tr h="406777">
                <a:tc>
                  <a:txBody>
                    <a:bodyPr/>
                    <a:lstStyle/>
                    <a:p>
                      <a:pPr>
                        <a:buNone/>
                      </a:pPr>
                      <a:r>
                        <a:rPr lang="it-IT" sz="1300">
                          <a:solidFill>
                            <a:schemeClr val="accent1"/>
                          </a:solidFill>
                        </a:rPr>
                        <a:t>Decision Tree</a:t>
                      </a:r>
                    </a:p>
                  </a:txBody>
                  <a:tcPr marL="85644" marR="85644" marT="42822" marB="42822" anchor="ctr">
                    <a:lnL>
                      <a:noFill/>
                    </a:lnL>
                    <a:lnR>
                      <a:noFill/>
                    </a:lnR>
                    <a:lnT>
                      <a:noFill/>
                    </a:lnT>
                    <a:lnB>
                      <a:noFill/>
                    </a:lnB>
                    <a:noFill/>
                  </a:tcPr>
                </a:tc>
                <a:tc>
                  <a:txBody>
                    <a:bodyPr/>
                    <a:lstStyle/>
                    <a:p>
                      <a:pPr>
                        <a:buNone/>
                      </a:pPr>
                      <a:r>
                        <a:rPr lang="it-IT" sz="1300">
                          <a:solidFill>
                            <a:schemeClr val="accent1"/>
                          </a:solidFill>
                        </a:rPr>
                        <a:t>0.83</a:t>
                      </a:r>
                    </a:p>
                  </a:txBody>
                  <a:tcPr marL="85644" marR="85644" marT="42822" marB="42822" anchor="ctr">
                    <a:lnL>
                      <a:noFill/>
                    </a:lnL>
                    <a:lnR>
                      <a:noFill/>
                    </a:lnR>
                    <a:lnT>
                      <a:noFill/>
                    </a:lnT>
                    <a:lnB>
                      <a:noFill/>
                    </a:lnB>
                    <a:noFill/>
                  </a:tcPr>
                </a:tc>
                <a:tc>
                  <a:txBody>
                    <a:bodyPr/>
                    <a:lstStyle/>
                    <a:p>
                      <a:pPr>
                        <a:buNone/>
                      </a:pPr>
                      <a:r>
                        <a:rPr lang="it-IT" sz="1300">
                          <a:solidFill>
                            <a:schemeClr val="accent1"/>
                          </a:solidFill>
                        </a:rPr>
                        <a:t>0.29</a:t>
                      </a:r>
                    </a:p>
                  </a:txBody>
                  <a:tcPr marL="85644" marR="85644" marT="42822" marB="42822" anchor="ctr">
                    <a:lnL>
                      <a:noFill/>
                    </a:lnL>
                    <a:lnR>
                      <a:noFill/>
                    </a:lnR>
                    <a:lnT>
                      <a:noFill/>
                    </a:lnT>
                    <a:lnB>
                      <a:noFill/>
                    </a:lnB>
                    <a:noFill/>
                  </a:tcPr>
                </a:tc>
                <a:tc>
                  <a:txBody>
                    <a:bodyPr/>
                    <a:lstStyle/>
                    <a:p>
                      <a:pPr>
                        <a:buNone/>
                      </a:pPr>
                      <a:r>
                        <a:rPr lang="it-IT" sz="1300">
                          <a:solidFill>
                            <a:schemeClr val="accent1"/>
                          </a:solidFill>
                        </a:rPr>
                        <a:t>0.604</a:t>
                      </a:r>
                    </a:p>
                  </a:txBody>
                  <a:tcPr marL="85644" marR="85644" marT="42822" marB="42822" anchor="ctr">
                    <a:lnL>
                      <a:noFill/>
                    </a:lnL>
                    <a:lnR>
                      <a:noFill/>
                    </a:lnR>
                    <a:lnT>
                      <a:noFill/>
                    </a:lnT>
                    <a:lnB>
                      <a:noFill/>
                    </a:lnB>
                    <a:noFill/>
                  </a:tcPr>
                </a:tc>
                <a:tc>
                  <a:txBody>
                    <a:bodyPr/>
                    <a:lstStyle/>
                    <a:p>
                      <a:pPr>
                        <a:buNone/>
                      </a:pPr>
                      <a:r>
                        <a:rPr lang="it-IT" sz="1300">
                          <a:solidFill>
                            <a:schemeClr val="accent1"/>
                          </a:solidFill>
                        </a:rPr>
                        <a:t>0.832</a:t>
                      </a:r>
                    </a:p>
                  </a:txBody>
                  <a:tcPr marL="85644" marR="85644" marT="42822" marB="42822" anchor="ctr">
                    <a:lnL>
                      <a:noFill/>
                    </a:lnL>
                    <a:lnR>
                      <a:noFill/>
                    </a:lnR>
                    <a:lnT>
                      <a:noFill/>
                    </a:lnT>
                    <a:lnB>
                      <a:noFill/>
                    </a:lnB>
                    <a:noFill/>
                  </a:tcPr>
                </a:tc>
                <a:tc>
                  <a:txBody>
                    <a:bodyPr/>
                    <a:lstStyle/>
                    <a:p>
                      <a:pPr>
                        <a:buNone/>
                      </a:pPr>
                      <a:r>
                        <a:rPr lang="it-IT" sz="1300" dirty="0">
                          <a:solidFill>
                            <a:schemeClr val="accent1"/>
                          </a:solidFill>
                        </a:rPr>
                        <a:t>Sensibile al rumore, minore capacità discriminante</a:t>
                      </a:r>
                    </a:p>
                  </a:txBody>
                  <a:tcPr marL="85644" marR="85644" marT="42822" marB="42822" anchor="ctr">
                    <a:lnL>
                      <a:noFill/>
                    </a:lnL>
                    <a:lnR>
                      <a:noFill/>
                    </a:lnR>
                    <a:lnT>
                      <a:noFill/>
                    </a:lnT>
                    <a:lnB>
                      <a:noFill/>
                    </a:lnB>
                    <a:noFill/>
                  </a:tcPr>
                </a:tc>
                <a:extLst>
                  <a:ext uri="{0D108BD9-81ED-4DB2-BD59-A6C34878D82A}">
                    <a16:rowId xmlns:a16="http://schemas.microsoft.com/office/drawing/2014/main" val="3826545464"/>
                  </a:ext>
                </a:extLst>
              </a:tr>
              <a:tr h="406777">
                <a:tc>
                  <a:txBody>
                    <a:bodyPr/>
                    <a:lstStyle/>
                    <a:p>
                      <a:pPr>
                        <a:buNone/>
                      </a:pPr>
                      <a:r>
                        <a:rPr lang="it-IT" sz="1300">
                          <a:solidFill>
                            <a:schemeClr val="accent1"/>
                          </a:solidFill>
                        </a:rPr>
                        <a:t>Random Forest</a:t>
                      </a:r>
                    </a:p>
                  </a:txBody>
                  <a:tcPr marL="85644" marR="85644" marT="42822" marB="42822" anchor="ctr">
                    <a:lnL>
                      <a:noFill/>
                    </a:lnL>
                    <a:lnR>
                      <a:noFill/>
                    </a:lnR>
                    <a:lnT>
                      <a:noFill/>
                    </a:lnT>
                    <a:lnB>
                      <a:noFill/>
                    </a:lnB>
                    <a:noFill/>
                  </a:tcPr>
                </a:tc>
                <a:tc>
                  <a:txBody>
                    <a:bodyPr/>
                    <a:lstStyle/>
                    <a:p>
                      <a:pPr>
                        <a:buNone/>
                      </a:pPr>
                      <a:r>
                        <a:rPr lang="it-IT" sz="1300" b="1">
                          <a:solidFill>
                            <a:schemeClr val="accent1"/>
                          </a:solidFill>
                        </a:rPr>
                        <a:t>0.90</a:t>
                      </a:r>
                      <a:endParaRPr lang="it-IT" sz="1300">
                        <a:solidFill>
                          <a:schemeClr val="accent1"/>
                        </a:solidFill>
                      </a:endParaRPr>
                    </a:p>
                  </a:txBody>
                  <a:tcPr marL="85644" marR="85644" marT="42822" marB="42822" anchor="ctr">
                    <a:lnL>
                      <a:noFill/>
                    </a:lnL>
                    <a:lnR>
                      <a:noFill/>
                    </a:lnR>
                    <a:lnT>
                      <a:noFill/>
                    </a:lnT>
                    <a:lnB>
                      <a:noFill/>
                    </a:lnB>
                    <a:noFill/>
                  </a:tcPr>
                </a:tc>
                <a:tc>
                  <a:txBody>
                    <a:bodyPr/>
                    <a:lstStyle/>
                    <a:p>
                      <a:pPr>
                        <a:buNone/>
                      </a:pPr>
                      <a:r>
                        <a:rPr lang="it-IT" sz="1300" b="1">
                          <a:solidFill>
                            <a:schemeClr val="accent1"/>
                          </a:solidFill>
                        </a:rPr>
                        <a:t>0.31</a:t>
                      </a:r>
                      <a:endParaRPr lang="it-IT" sz="1300">
                        <a:solidFill>
                          <a:schemeClr val="accent1"/>
                        </a:solidFill>
                      </a:endParaRPr>
                    </a:p>
                  </a:txBody>
                  <a:tcPr marL="85644" marR="85644" marT="42822" marB="42822" anchor="ctr">
                    <a:lnL>
                      <a:noFill/>
                    </a:lnL>
                    <a:lnR>
                      <a:noFill/>
                    </a:lnR>
                    <a:lnT>
                      <a:noFill/>
                    </a:lnT>
                    <a:lnB>
                      <a:noFill/>
                    </a:lnB>
                    <a:noFill/>
                  </a:tcPr>
                </a:tc>
                <a:tc>
                  <a:txBody>
                    <a:bodyPr/>
                    <a:lstStyle/>
                    <a:p>
                      <a:pPr>
                        <a:buNone/>
                      </a:pPr>
                      <a:r>
                        <a:rPr lang="it-IT" sz="1300" b="1">
                          <a:solidFill>
                            <a:schemeClr val="accent1"/>
                          </a:solidFill>
                        </a:rPr>
                        <a:t>0.777</a:t>
                      </a:r>
                      <a:endParaRPr lang="it-IT" sz="1300">
                        <a:solidFill>
                          <a:schemeClr val="accent1"/>
                        </a:solidFill>
                      </a:endParaRPr>
                    </a:p>
                  </a:txBody>
                  <a:tcPr marL="85644" marR="85644" marT="42822" marB="42822" anchor="ctr">
                    <a:lnL>
                      <a:noFill/>
                    </a:lnL>
                    <a:lnR>
                      <a:noFill/>
                    </a:lnR>
                    <a:lnT>
                      <a:noFill/>
                    </a:lnT>
                    <a:lnB>
                      <a:noFill/>
                    </a:lnB>
                    <a:noFill/>
                  </a:tcPr>
                </a:tc>
                <a:tc>
                  <a:txBody>
                    <a:bodyPr/>
                    <a:lstStyle/>
                    <a:p>
                      <a:pPr>
                        <a:buNone/>
                      </a:pPr>
                      <a:r>
                        <a:rPr lang="it-IT" sz="1300">
                          <a:solidFill>
                            <a:schemeClr val="accent1"/>
                          </a:solidFill>
                        </a:rPr>
                        <a:t>0.832</a:t>
                      </a:r>
                    </a:p>
                  </a:txBody>
                  <a:tcPr marL="85644" marR="85644" marT="42822" marB="42822" anchor="ctr">
                    <a:lnL>
                      <a:noFill/>
                    </a:lnL>
                    <a:lnR>
                      <a:noFill/>
                    </a:lnR>
                    <a:lnT>
                      <a:noFill/>
                    </a:lnT>
                    <a:lnB>
                      <a:noFill/>
                    </a:lnB>
                    <a:noFill/>
                  </a:tcPr>
                </a:tc>
                <a:tc>
                  <a:txBody>
                    <a:bodyPr/>
                    <a:lstStyle/>
                    <a:p>
                      <a:pPr>
                        <a:buNone/>
                      </a:pPr>
                      <a:r>
                        <a:rPr lang="it-IT" sz="1300" dirty="0">
                          <a:solidFill>
                            <a:schemeClr val="accent1"/>
                          </a:solidFill>
                        </a:rPr>
                        <a:t>Miglior compromesso tra precisione e robustezza</a:t>
                      </a:r>
                    </a:p>
                  </a:txBody>
                  <a:tcPr marL="85644" marR="85644" marT="42822" marB="42822" anchor="ctr">
                    <a:lnL>
                      <a:noFill/>
                    </a:lnL>
                    <a:lnR>
                      <a:noFill/>
                    </a:lnR>
                    <a:lnT>
                      <a:noFill/>
                    </a:lnT>
                    <a:lnB>
                      <a:noFill/>
                    </a:lnB>
                    <a:noFill/>
                  </a:tcPr>
                </a:tc>
                <a:extLst>
                  <a:ext uri="{0D108BD9-81ED-4DB2-BD59-A6C34878D82A}">
                    <a16:rowId xmlns:a16="http://schemas.microsoft.com/office/drawing/2014/main" val="372973251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2"/>
          <p:cNvSpPr txBox="1">
            <a:spLocks noGrp="1"/>
          </p:cNvSpPr>
          <p:nvPr>
            <p:ph type="title"/>
          </p:nvPr>
        </p:nvSpPr>
        <p:spPr>
          <a:xfrm>
            <a:off x="311700" y="312325"/>
            <a:ext cx="8520600" cy="801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dirty="0">
                <a:solidFill>
                  <a:srgbClr val="00B050"/>
                </a:solidFill>
              </a:rPr>
              <a:t>Conclusioni</a:t>
            </a:r>
            <a:endParaRPr dirty="0">
              <a:solidFill>
                <a:srgbClr val="00B050"/>
              </a:solidFill>
            </a:endParaRPr>
          </a:p>
        </p:txBody>
      </p:sp>
      <p:sp>
        <p:nvSpPr>
          <p:cNvPr id="118" name="Google Shape;118;p22"/>
          <p:cNvSpPr txBox="1">
            <a:spLocks noGrp="1"/>
          </p:cNvSpPr>
          <p:nvPr>
            <p:ph type="body" idx="1"/>
          </p:nvPr>
        </p:nvSpPr>
        <p:spPr>
          <a:xfrm>
            <a:off x="311700" y="1060050"/>
            <a:ext cx="8520600" cy="3886200"/>
          </a:xfrm>
          <a:prstGeom prst="rect">
            <a:avLst/>
          </a:prstGeom>
        </p:spPr>
        <p:txBody>
          <a:bodyPr spcFirstLastPara="1" wrap="square" lIns="91425" tIns="91425" rIns="91425" bIns="91425" anchor="t" anchorCtr="0">
            <a:normAutofit fontScale="25000" lnSpcReduction="20000"/>
          </a:bodyPr>
          <a:lstStyle/>
          <a:p>
            <a:pPr marL="114300" indent="0">
              <a:buNone/>
            </a:pPr>
            <a:r>
              <a:rPr lang="it-IT" sz="4800" dirty="0"/>
              <a:t>I risultati dimostrano che il Machine Learning può essere applicato efficacemente per stimare la probabilità di segnare un goal a partire dagli eventi di tiro. L’approccio proposto consente di valutare in modo oggettivo la qualità delle occasioni offensive, anche in presenza di dati reali complessi e sbilanciati.</a:t>
            </a:r>
          </a:p>
          <a:p>
            <a:pPr marL="114300" indent="0">
              <a:buNone/>
            </a:pPr>
            <a:endParaRPr lang="it-IT" sz="4800" dirty="0"/>
          </a:p>
          <a:p>
            <a:pPr marL="114300" indent="0">
              <a:buNone/>
            </a:pPr>
            <a:r>
              <a:rPr lang="it-IT" sz="4800" b="1" dirty="0"/>
              <a:t>Applicazioni reali:</a:t>
            </a:r>
            <a:br>
              <a:rPr lang="it-IT" sz="4800" dirty="0"/>
            </a:br>
            <a:r>
              <a:rPr lang="it-IT" sz="4800" dirty="0"/>
              <a:t> </a:t>
            </a:r>
          </a:p>
          <a:p>
            <a:pPr>
              <a:buFont typeface="Arial" panose="020B0604020202020204" pitchFamily="34" charset="0"/>
              <a:buChar char="•"/>
            </a:pPr>
            <a:r>
              <a:rPr lang="it-IT" sz="4800" dirty="0"/>
              <a:t>Analisi delle prestazioni di squadre e giocatori.</a:t>
            </a:r>
            <a:br>
              <a:rPr lang="it-IT" sz="4800" dirty="0"/>
            </a:br>
            <a:r>
              <a:rPr lang="it-IT" sz="4800" dirty="0"/>
              <a:t> </a:t>
            </a:r>
          </a:p>
          <a:p>
            <a:pPr>
              <a:buFont typeface="Arial" panose="020B0604020202020204" pitchFamily="34" charset="0"/>
              <a:buChar char="•"/>
            </a:pPr>
            <a:r>
              <a:rPr lang="it-IT" sz="4800" dirty="0"/>
              <a:t>Supporto alle decisioni tattiche e allo scouting.</a:t>
            </a:r>
            <a:br>
              <a:rPr lang="it-IT" sz="4800" dirty="0"/>
            </a:br>
            <a:r>
              <a:rPr lang="it-IT" sz="4800" dirty="0"/>
              <a:t> </a:t>
            </a:r>
          </a:p>
          <a:p>
            <a:pPr>
              <a:buFont typeface="Arial" panose="020B0604020202020204" pitchFamily="34" charset="0"/>
              <a:buChar char="•"/>
            </a:pPr>
            <a:r>
              <a:rPr lang="it-IT" sz="4800" dirty="0"/>
              <a:t>Valutazione dell’efficacia offensiva indipendente dal risultato finale.</a:t>
            </a:r>
          </a:p>
          <a:p>
            <a:pPr marL="114300" indent="0">
              <a:buNone/>
            </a:pPr>
            <a:endParaRPr lang="it-IT" sz="4800" dirty="0"/>
          </a:p>
          <a:p>
            <a:pPr marL="114300" indent="0">
              <a:buNone/>
            </a:pPr>
            <a:r>
              <a:rPr lang="it-IT" sz="4800" b="1" dirty="0"/>
              <a:t>Sviluppi futuri:</a:t>
            </a:r>
            <a:br>
              <a:rPr lang="it-IT" sz="4800" b="1" dirty="0"/>
            </a:br>
            <a:r>
              <a:rPr lang="it-IT" sz="4800" dirty="0"/>
              <a:t>Utilizzo di modelli più avanzati (es. </a:t>
            </a:r>
            <a:r>
              <a:rPr lang="it-IT" sz="4800" dirty="0" err="1"/>
              <a:t>Gradient</a:t>
            </a:r>
            <a:r>
              <a:rPr lang="it-IT" sz="4800" dirty="0"/>
              <a:t> </a:t>
            </a:r>
            <a:r>
              <a:rPr lang="it-IT" sz="4800" dirty="0" err="1"/>
              <a:t>Boosting</a:t>
            </a:r>
            <a:r>
              <a:rPr lang="it-IT" sz="4800" dirty="0"/>
              <a:t>).</a:t>
            </a:r>
            <a:br>
              <a:rPr lang="it-IT" sz="4800" dirty="0"/>
            </a:br>
            <a:endParaRPr lang="it-IT" sz="4800" dirty="0"/>
          </a:p>
          <a:p>
            <a:pPr>
              <a:buFont typeface="Arial" panose="020B0604020202020204" pitchFamily="34" charset="0"/>
              <a:buChar char="•"/>
            </a:pPr>
            <a:r>
              <a:rPr lang="it-IT" sz="4800" dirty="0"/>
              <a:t>Integrazione di feature contestuali aggiuntive (posizionamento difensivo, passaggi precedenti).</a:t>
            </a:r>
            <a:br>
              <a:rPr lang="it-IT" sz="4800" dirty="0"/>
            </a:br>
            <a:r>
              <a:rPr lang="it-IT" sz="4800" dirty="0"/>
              <a:t> </a:t>
            </a:r>
          </a:p>
          <a:p>
            <a:pPr>
              <a:buFont typeface="Arial" panose="020B0604020202020204" pitchFamily="34" charset="0"/>
              <a:buChar char="•"/>
            </a:pPr>
            <a:r>
              <a:rPr lang="it-IT" sz="4800" dirty="0"/>
              <a:t>Ottimizzazione degli </a:t>
            </a:r>
            <a:r>
              <a:rPr lang="it-IT" sz="4800" dirty="0" err="1"/>
              <a:t>iperparametri</a:t>
            </a:r>
            <a:r>
              <a:rPr lang="it-IT" sz="4800" dirty="0"/>
              <a:t> e calibrazione delle probabilità per migliorare la stima dell’</a:t>
            </a:r>
            <a:r>
              <a:rPr lang="it-IT" sz="4800" dirty="0" err="1"/>
              <a:t>xG</a:t>
            </a:r>
            <a:r>
              <a:rPr lang="it-IT" sz="4800" dirty="0"/>
              <a:t>.</a:t>
            </a:r>
          </a:p>
          <a:p>
            <a:pPr marL="0" lvl="0" indent="0" algn="l" rtl="0">
              <a:spcBef>
                <a:spcPts val="1200"/>
              </a:spcBef>
              <a:spcAft>
                <a:spcPts val="0"/>
              </a:spcAft>
              <a:buNone/>
            </a:pPr>
            <a:endParaRPr dirty="0"/>
          </a:p>
          <a:p>
            <a:pPr marL="0" lvl="0" indent="0" algn="l" rtl="0">
              <a:spcBef>
                <a:spcPts val="1200"/>
              </a:spcBef>
              <a:spcAft>
                <a:spcPts val="1200"/>
              </a:spcAft>
              <a:buNone/>
            </a:pPr>
            <a:endParaRPr dirty="0"/>
          </a:p>
        </p:txBody>
      </p:sp>
    </p:spTree>
  </p:cSld>
  <p:clrMapOvr>
    <a:masterClrMapping/>
  </p:clrMapOvr>
</p:sld>
</file>

<file path=ppt/theme/theme1.xml><?xml version="1.0" encoding="utf-8"?>
<a:theme xmlns:a="http://schemas.openxmlformats.org/drawingml/2006/main"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996</Words>
  <Application>Microsoft Office PowerPoint</Application>
  <PresentationFormat>Presentazione su schermo (16:9)</PresentationFormat>
  <Paragraphs>84</Paragraphs>
  <Slides>11</Slides>
  <Notes>10</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11</vt:i4>
      </vt:variant>
    </vt:vector>
  </HeadingPairs>
  <TitlesOfParts>
    <vt:vector size="17" baseType="lpstr">
      <vt:lpstr>Times New Roman</vt:lpstr>
      <vt:lpstr>Source Code Pro Black</vt:lpstr>
      <vt:lpstr>Source Code Pro</vt:lpstr>
      <vt:lpstr>Amatic SC</vt:lpstr>
      <vt:lpstr>Arial</vt:lpstr>
      <vt:lpstr>Beach Day</vt:lpstr>
      <vt:lpstr>Expected Goals – xG</vt:lpstr>
      <vt:lpstr>Identificazione del problema- previsione dei goal nei tiri di calcio </vt:lpstr>
      <vt:lpstr>Importanza del Problema</vt:lpstr>
      <vt:lpstr>Descrizione del dataset</vt:lpstr>
      <vt:lpstr>Processing dei dati</vt:lpstr>
      <vt:lpstr>Processing dei dati </vt:lpstr>
      <vt:lpstr>Modelli utilizzati</vt:lpstr>
      <vt:lpstr>Modelli utilizzati: Random Forest</vt:lpstr>
      <vt:lpstr>modelli utilizzati: Decision Tree</vt:lpstr>
      <vt:lpstr>Risultati e analisi</vt:lpstr>
      <vt:lpstr>Conclusioni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francesco santoro</dc:creator>
  <cp:lastModifiedBy>francesco santoro</cp:lastModifiedBy>
  <cp:revision>3</cp:revision>
  <dcterms:modified xsi:type="dcterms:W3CDTF">2025-12-26T15:23:29Z</dcterms:modified>
</cp:coreProperties>
</file>